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2" r:id="rId1"/>
  </p:sldMasterIdLst>
  <p:sldIdLst>
    <p:sldId id="269" r:id="rId2"/>
    <p:sldId id="271" r:id="rId3"/>
    <p:sldId id="272" r:id="rId4"/>
    <p:sldId id="257" r:id="rId5"/>
    <p:sldId id="258" r:id="rId6"/>
    <p:sldId id="259" r:id="rId7"/>
    <p:sldId id="261" r:id="rId8"/>
    <p:sldId id="265" r:id="rId9"/>
    <p:sldId id="266"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4" d="100"/>
          <a:sy n="94" d="100"/>
        </p:scale>
        <p:origin x="1138"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85522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79302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512842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864562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14519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pPr/>
              <a:t>4/9/2026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1310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4/9/2026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4246469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97531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323911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09112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pPr/>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90256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3331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462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786722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56082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014264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pPr/>
              <a:t>4/9/2026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4237982002"/>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 id="2147483976" r:id="rId14"/>
    <p:sldLayoutId id="2147483977" r:id="rId15"/>
    <p:sldLayoutId id="214748397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2E86EFA-8396-AEA6-5444-C835EC877B45}"/>
              </a:ext>
            </a:extLst>
          </p:cNvPr>
          <p:cNvSpPr>
            <a:spLocks noGrp="1"/>
          </p:cNvSpPr>
          <p:nvPr>
            <p:ph type="title"/>
          </p:nvPr>
        </p:nvSpPr>
        <p:spPr>
          <a:xfrm>
            <a:off x="1006846" y="197982"/>
            <a:ext cx="8317032" cy="1325563"/>
          </a:xfrm>
        </p:spPr>
        <p:txBody>
          <a:bodyPr>
            <a:normAutofit/>
          </a:bodyPr>
          <a:lstStyle/>
          <a:p>
            <a:pPr algn="ctr"/>
            <a:r>
              <a:rPr lang="en-US" sz="4400" dirty="0" err="1">
                <a:latin typeface="Old English Text MT" panose="03040902040508030806" pitchFamily="66" charset="0"/>
                <a:cs typeface="Times New Roman" panose="02020603050405020304" pitchFamily="18" charset="0"/>
              </a:rPr>
              <a:t>Bapatla</a:t>
            </a:r>
            <a:r>
              <a:rPr lang="en-US" sz="4400" dirty="0">
                <a:latin typeface="Old English Text MT" panose="03040902040508030806" pitchFamily="66" charset="0"/>
                <a:cs typeface="Times New Roman" panose="02020603050405020304" pitchFamily="18" charset="0"/>
              </a:rPr>
              <a:t> Engineering College</a:t>
            </a:r>
            <a:r>
              <a:rPr lang="en-US" sz="4000" dirty="0">
                <a:latin typeface="Times New Roman" panose="02020603050405020304" pitchFamily="18" charset="0"/>
                <a:cs typeface="Times New Roman" panose="02020603050405020304" pitchFamily="18" charset="0"/>
              </a:rPr>
              <a:t/>
            </a:r>
            <a:br>
              <a:rPr lang="en-US" sz="4000" dirty="0">
                <a:latin typeface="Times New Roman" panose="02020603050405020304" pitchFamily="18" charset="0"/>
                <a:cs typeface="Times New Roman" panose="02020603050405020304" pitchFamily="18" charset="0"/>
              </a:rPr>
            </a:br>
            <a:r>
              <a:rPr lang="en-US" sz="2800" dirty="0">
                <a:solidFill>
                  <a:schemeClr val="accent2"/>
                </a:solidFill>
                <a:latin typeface="Times New Roman" panose="02020603050405020304" pitchFamily="18" charset="0"/>
                <a:cs typeface="Times New Roman" panose="02020603050405020304" pitchFamily="18" charset="0"/>
              </a:rPr>
              <a:t>Department of Information Technology</a:t>
            </a:r>
          </a:p>
        </p:txBody>
      </p:sp>
      <p:pic>
        <p:nvPicPr>
          <p:cNvPr id="16" name="Content Placeholder 15">
            <a:extLst>
              <a:ext uri="{FF2B5EF4-FFF2-40B4-BE49-F238E27FC236}">
                <a16:creationId xmlns:a16="http://schemas.microsoft.com/office/drawing/2014/main" id="{408B7C28-A967-27C0-D9D5-196B99F9297C}"/>
              </a:ext>
            </a:extLst>
          </p:cNvPr>
          <p:cNvPicPr>
            <a:picLocks noGrp="1" noChangeAspect="1"/>
          </p:cNvPicPr>
          <p:nvPr>
            <p:ph sz="half" idx="1"/>
          </p:nvPr>
        </p:nvPicPr>
        <p:blipFill>
          <a:blip r:embed="rId2"/>
          <a:stretch>
            <a:fillRect/>
          </a:stretch>
        </p:blipFill>
        <p:spPr>
          <a:xfrm>
            <a:off x="264543" y="149525"/>
            <a:ext cx="1575759" cy="1505980"/>
          </a:xfrm>
          <a:prstGeom prst="rect">
            <a:avLst/>
          </a:prstGeom>
        </p:spPr>
      </p:pic>
      <p:sp>
        <p:nvSpPr>
          <p:cNvPr id="12" name="Content Placeholder 11">
            <a:extLst>
              <a:ext uri="{FF2B5EF4-FFF2-40B4-BE49-F238E27FC236}">
                <a16:creationId xmlns:a16="http://schemas.microsoft.com/office/drawing/2014/main" id="{2B4C08B8-F6F9-E545-1ADF-8D1464451912}"/>
              </a:ext>
            </a:extLst>
          </p:cNvPr>
          <p:cNvSpPr>
            <a:spLocks noGrp="1"/>
          </p:cNvSpPr>
          <p:nvPr>
            <p:ph sz="half" idx="2"/>
          </p:nvPr>
        </p:nvSpPr>
        <p:spPr>
          <a:xfrm>
            <a:off x="647086" y="1655505"/>
            <a:ext cx="7826477" cy="4885188"/>
          </a:xfrm>
        </p:spPr>
        <p:txBody>
          <a:bodyPr>
            <a:normAutofit fontScale="70000" lnSpcReduction="20000"/>
          </a:bodyPr>
          <a:lstStyle/>
          <a:p>
            <a:pPr marL="0" indent="0" algn="ctr">
              <a:buNone/>
            </a:pPr>
            <a:r>
              <a:rPr lang="en-US" sz="2600" dirty="0">
                <a:solidFill>
                  <a:schemeClr val="accent2"/>
                </a:solidFill>
                <a:latin typeface="Times New Roman" panose="02020603050405020304" pitchFamily="18" charset="0"/>
                <a:cs typeface="Times New Roman" panose="02020603050405020304" pitchFamily="18" charset="0"/>
              </a:rPr>
              <a:t>Project Review – I</a:t>
            </a:r>
          </a:p>
          <a:p>
            <a:pPr marL="0" indent="0" algn="ctr">
              <a:buNone/>
            </a:pPr>
            <a:r>
              <a:rPr lang="en-US" sz="2600" dirty="0">
                <a:solidFill>
                  <a:schemeClr val="accent2"/>
                </a:solidFill>
                <a:latin typeface="Times New Roman" panose="02020603050405020304" pitchFamily="18" charset="0"/>
                <a:cs typeface="Times New Roman" panose="02020603050405020304" pitchFamily="18" charset="0"/>
              </a:rPr>
              <a:t>on</a:t>
            </a:r>
          </a:p>
          <a:p>
            <a:pPr marL="0" indent="0" algn="ctr">
              <a:lnSpc>
                <a:spcPct val="170000"/>
              </a:lnSpc>
              <a:buNone/>
            </a:pPr>
            <a:r>
              <a:rPr lang="en-US" sz="2800" b="1" dirty="0">
                <a:latin typeface="Times New Roman" panose="02020603050405020304" pitchFamily="18" charset="0"/>
                <a:cs typeface="Times New Roman" panose="02020603050405020304" pitchFamily="18" charset="0"/>
              </a:rPr>
              <a:t>FOOD CALORIE ESTIMATION SYSTEM USING COMPUTER VISION AND DATA SCIENCE </a:t>
            </a:r>
          </a:p>
          <a:p>
            <a:pPr marL="0" indent="0" algn="ctr">
              <a:lnSpc>
                <a:spcPct val="100000"/>
              </a:lnSpc>
              <a:buNone/>
            </a:pPr>
            <a:r>
              <a:rPr lang="en-US" sz="2400" dirty="0">
                <a:solidFill>
                  <a:schemeClr val="accent6">
                    <a:lumMod val="75000"/>
                  </a:schemeClr>
                </a:solidFill>
                <a:latin typeface="Times New Roman" panose="02020603050405020304" pitchFamily="18" charset="0"/>
                <a:cs typeface="Times New Roman" panose="02020603050405020304" pitchFamily="18" charset="0"/>
              </a:rPr>
              <a:t>Under the Esteemed Guidance</a:t>
            </a:r>
          </a:p>
          <a:p>
            <a:pPr marL="0" indent="0" algn="ctr">
              <a:lnSpc>
                <a:spcPct val="100000"/>
              </a:lnSpc>
              <a:buNone/>
            </a:pPr>
            <a:r>
              <a:rPr lang="en-US" sz="2400" dirty="0">
                <a:solidFill>
                  <a:schemeClr val="accent6">
                    <a:lumMod val="75000"/>
                  </a:schemeClr>
                </a:solidFill>
                <a:latin typeface="Times New Roman" panose="02020603050405020304" pitchFamily="18" charset="0"/>
                <a:cs typeface="Times New Roman" panose="02020603050405020304" pitchFamily="18" charset="0"/>
              </a:rPr>
              <a:t>of</a:t>
            </a:r>
          </a:p>
          <a:p>
            <a:pPr marL="0" indent="0" algn="ctr">
              <a:lnSpc>
                <a:spcPct val="100000"/>
              </a:lnSpc>
              <a:buNone/>
            </a:pPr>
            <a:r>
              <a:rPr lang="en-US" sz="2400" dirty="0">
                <a:solidFill>
                  <a:schemeClr val="accent6">
                    <a:lumMod val="75000"/>
                  </a:schemeClr>
                </a:solidFill>
                <a:latin typeface="Times New Roman" panose="02020603050405020304" pitchFamily="18" charset="0"/>
                <a:cs typeface="Times New Roman" panose="02020603050405020304" pitchFamily="18" charset="0"/>
              </a:rPr>
              <a:t>Dr. P. </a:t>
            </a:r>
            <a:r>
              <a:rPr lang="en-US" sz="2400" dirty="0" err="1" smtClean="0">
                <a:solidFill>
                  <a:schemeClr val="accent6">
                    <a:lumMod val="75000"/>
                  </a:schemeClr>
                </a:solidFill>
                <a:latin typeface="Times New Roman" panose="02020603050405020304" pitchFamily="18" charset="0"/>
                <a:cs typeface="Times New Roman" panose="02020603050405020304" pitchFamily="18" charset="0"/>
              </a:rPr>
              <a:t>Sreedhar</a:t>
            </a:r>
            <a:r>
              <a:rPr lang="en-US" sz="2400" dirty="0" smtClean="0">
                <a:solidFill>
                  <a:schemeClr val="accent6">
                    <a:lumMod val="75000"/>
                  </a:schemeClr>
                </a:solidFill>
                <a:latin typeface="Times New Roman" panose="02020603050405020304" pitchFamily="18" charset="0"/>
                <a:cs typeface="Times New Roman" panose="02020603050405020304" pitchFamily="18" charset="0"/>
              </a:rPr>
              <a:t> </a:t>
            </a:r>
            <a:r>
              <a:rPr lang="en-US" sz="2400" baseline="-25000" dirty="0" err="1" smtClean="0">
                <a:solidFill>
                  <a:schemeClr val="accent6">
                    <a:lumMod val="75000"/>
                  </a:schemeClr>
                </a:solidFill>
                <a:latin typeface="Times New Roman" panose="02020603050405020304" pitchFamily="18" charset="0"/>
                <a:cs typeface="Times New Roman" panose="02020603050405020304" pitchFamily="18" charset="0"/>
              </a:rPr>
              <a:t>M.Tech,Ph.D</a:t>
            </a:r>
            <a:endParaRPr lang="en-US" sz="2400" baseline="-25000"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ctr">
              <a:buNone/>
            </a:pPr>
            <a:endParaRPr lang="en-US" sz="2400" dirty="0">
              <a:solidFill>
                <a:srgbClr val="0070C0"/>
              </a:solidFill>
              <a:latin typeface="Times New Roman" panose="02020603050405020304" pitchFamily="18" charset="0"/>
              <a:cs typeface="Times New Roman" panose="02020603050405020304" pitchFamily="18" charset="0"/>
            </a:endParaRPr>
          </a:p>
          <a:p>
            <a:pPr marL="0" indent="0" algn="ctr">
              <a:buNone/>
            </a:pPr>
            <a:r>
              <a:rPr lang="en-US" sz="2400" dirty="0">
                <a:solidFill>
                  <a:srgbClr val="0070C0"/>
                </a:solidFill>
                <a:latin typeface="Times New Roman" panose="02020603050405020304" pitchFamily="18" charset="0"/>
                <a:cs typeface="Times New Roman" panose="02020603050405020304" pitchFamily="18" charset="0"/>
              </a:rPr>
              <a:t>Presented By,</a:t>
            </a:r>
          </a:p>
          <a:p>
            <a:pPr marL="0" indent="0" algn="ctr">
              <a:buNone/>
            </a:pPr>
            <a:endParaRPr lang="en-US" sz="1600" dirty="0">
              <a:solidFill>
                <a:srgbClr val="0070C0"/>
              </a:solidFill>
              <a:latin typeface="Times New Roman" panose="02020603050405020304" pitchFamily="18" charset="0"/>
              <a:cs typeface="Times New Roman" panose="02020603050405020304" pitchFamily="18" charset="0"/>
            </a:endParaRPr>
          </a:p>
          <a:p>
            <a:pPr marL="0" indent="0" algn="r">
              <a:buNone/>
            </a:pPr>
            <a:r>
              <a:rPr lang="en-US" sz="2400" dirty="0" err="1" smtClean="0">
                <a:solidFill>
                  <a:srgbClr val="0070C0"/>
                </a:solidFill>
                <a:latin typeface="Times New Roman" panose="02020603050405020304" pitchFamily="18" charset="0"/>
                <a:cs typeface="Times New Roman" panose="02020603050405020304" pitchFamily="18" charset="0"/>
              </a:rPr>
              <a:t>Y.Manikanta</a:t>
            </a:r>
            <a:r>
              <a:rPr lang="en-US" sz="2400" dirty="0" smtClean="0">
                <a:solidFill>
                  <a:srgbClr val="0070C0"/>
                </a:solidFill>
                <a:latin typeface="Times New Roman" panose="02020603050405020304" pitchFamily="18" charset="0"/>
                <a:cs typeface="Times New Roman" panose="02020603050405020304" pitchFamily="18" charset="0"/>
              </a:rPr>
              <a:t>                 </a:t>
            </a:r>
            <a:r>
              <a:rPr lang="en-US" sz="2400" dirty="0">
                <a:solidFill>
                  <a:srgbClr val="0070C0"/>
                </a:solidFill>
                <a:latin typeface="Times New Roman" panose="02020603050405020304" pitchFamily="18" charset="0"/>
                <a:cs typeface="Times New Roman" panose="02020603050405020304" pitchFamily="18" charset="0"/>
              </a:rPr>
              <a:t>- Y22AIT530</a:t>
            </a:r>
          </a:p>
          <a:p>
            <a:pPr marL="0" indent="0" algn="r">
              <a:buNone/>
            </a:pPr>
            <a:r>
              <a:rPr lang="en-US" sz="2400" dirty="0" err="1">
                <a:solidFill>
                  <a:srgbClr val="0070C0"/>
                </a:solidFill>
                <a:latin typeface="Times New Roman" panose="02020603050405020304" pitchFamily="18" charset="0"/>
                <a:cs typeface="Times New Roman" panose="02020603050405020304" pitchFamily="18" charset="0"/>
              </a:rPr>
              <a:t>A.D.S.G.Hima</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smtClean="0">
                <a:solidFill>
                  <a:srgbClr val="0070C0"/>
                </a:solidFill>
                <a:latin typeface="Times New Roman" panose="02020603050405020304" pitchFamily="18" charset="0"/>
                <a:cs typeface="Times New Roman" panose="02020603050405020304" pitchFamily="18" charset="0"/>
              </a:rPr>
              <a:t>Bindu    </a:t>
            </a:r>
            <a:r>
              <a:rPr lang="en-US" sz="2400" dirty="0">
                <a:solidFill>
                  <a:srgbClr val="0070C0"/>
                </a:solidFill>
                <a:latin typeface="Times New Roman" panose="02020603050405020304" pitchFamily="18" charset="0"/>
                <a:cs typeface="Times New Roman" panose="02020603050405020304" pitchFamily="18" charset="0"/>
              </a:rPr>
              <a:t>-Y22AIT401</a:t>
            </a:r>
          </a:p>
          <a:p>
            <a:pPr marL="0" indent="0" algn="r">
              <a:buNone/>
            </a:pPr>
            <a:r>
              <a:rPr lang="en-US" sz="2400" dirty="0" err="1">
                <a:solidFill>
                  <a:srgbClr val="0070C0"/>
                </a:solidFill>
                <a:latin typeface="Times New Roman" panose="02020603050405020304" pitchFamily="18" charset="0"/>
                <a:cs typeface="Times New Roman" panose="02020603050405020304" pitchFamily="18" charset="0"/>
              </a:rPr>
              <a:t>G.Ravi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Teja</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smtClean="0">
                <a:solidFill>
                  <a:srgbClr val="0070C0"/>
                </a:solidFill>
                <a:latin typeface="Times New Roman" panose="02020603050405020304" pitchFamily="18" charset="0"/>
                <a:cs typeface="Times New Roman" panose="02020603050405020304" pitchFamily="18" charset="0"/>
              </a:rPr>
              <a:t>                </a:t>
            </a:r>
            <a:r>
              <a:rPr lang="en-US" sz="2400" dirty="0">
                <a:solidFill>
                  <a:srgbClr val="0070C0"/>
                </a:solidFill>
                <a:latin typeface="Times New Roman" panose="02020603050405020304" pitchFamily="18" charset="0"/>
                <a:cs typeface="Times New Roman" panose="02020603050405020304" pitchFamily="18" charset="0"/>
              </a:rPr>
              <a:t>-Y22AIT426</a:t>
            </a:r>
          </a:p>
          <a:p>
            <a:pPr marL="0" indent="0" algn="ctr">
              <a:lnSpc>
                <a:spcPct val="100000"/>
              </a:lnSpc>
              <a:buNone/>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ctr">
              <a:lnSpc>
                <a:spcPct val="100000"/>
              </a:lnSpc>
              <a:buNone/>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9195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B4A52-A465-7764-DDB2-92913D8581EA}"/>
              </a:ext>
            </a:extLst>
          </p:cNvPr>
          <p:cNvSpPr>
            <a:spLocks noGrp="1"/>
          </p:cNvSpPr>
          <p:nvPr>
            <p:ph type="title"/>
          </p:nvPr>
        </p:nvSpPr>
        <p:spPr/>
        <p:txBody>
          <a:bodyPr>
            <a:normAutofit/>
          </a:bodyPr>
          <a:lstStyle/>
          <a:p>
            <a:pPr algn="ctr"/>
            <a:r>
              <a:rPr lang="en-US" sz="4400" b="1" dirty="0">
                <a:solidFill>
                  <a:srgbClr val="FF000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6463A0A8-25AE-E176-1C71-EB5A02D7EDE7}"/>
              </a:ext>
            </a:extLst>
          </p:cNvPr>
          <p:cNvSpPr>
            <a:spLocks noGrp="1"/>
          </p:cNvSpPr>
          <p:nvPr>
            <p:ph idx="1"/>
          </p:nvPr>
        </p:nvSpPr>
        <p:spPr/>
        <p:txBody>
          <a:bodyPr>
            <a:normAutofit fontScale="92500" lnSpcReduction="10000"/>
          </a:bodyPr>
          <a:lstStyle/>
          <a:p>
            <a:r>
              <a:rPr lang="en-US" sz="3200" dirty="0">
                <a:latin typeface="Times New Roman" panose="02020603050405020304" pitchFamily="18" charset="0"/>
                <a:cs typeface="Times New Roman" panose="02020603050405020304" pitchFamily="18" charset="0"/>
              </a:rPr>
              <a:t>Abstract</a:t>
            </a:r>
          </a:p>
          <a:p>
            <a:r>
              <a:rPr lang="en-US" sz="3200" dirty="0">
                <a:latin typeface="Times New Roman" panose="02020603050405020304" pitchFamily="18" charset="0"/>
                <a:cs typeface="Times New Roman" panose="02020603050405020304" pitchFamily="18" charset="0"/>
              </a:rPr>
              <a:t>Problem Statement</a:t>
            </a:r>
          </a:p>
          <a:p>
            <a:r>
              <a:rPr lang="en-US" sz="3200" dirty="0">
                <a:latin typeface="Times New Roman" panose="02020603050405020304" pitchFamily="18" charset="0"/>
                <a:cs typeface="Times New Roman" panose="02020603050405020304" pitchFamily="18" charset="0"/>
              </a:rPr>
              <a:t>Significance of the Problem</a:t>
            </a:r>
          </a:p>
          <a:p>
            <a:r>
              <a:rPr lang="en-US" sz="3200" dirty="0">
                <a:latin typeface="Times New Roman" panose="02020603050405020304" pitchFamily="18" charset="0"/>
                <a:cs typeface="Times New Roman" panose="02020603050405020304" pitchFamily="18" charset="0"/>
              </a:rPr>
              <a:t>Literature  Survey</a:t>
            </a:r>
          </a:p>
          <a:p>
            <a:r>
              <a:rPr lang="en-US" sz="3200" dirty="0">
                <a:latin typeface="Times New Roman" panose="02020603050405020304" pitchFamily="18" charset="0"/>
                <a:cs typeface="Times New Roman" panose="02020603050405020304" pitchFamily="18" charset="0"/>
              </a:rPr>
              <a:t>Proposed System</a:t>
            </a:r>
          </a:p>
          <a:p>
            <a:r>
              <a:rPr lang="en-US" sz="3200" dirty="0">
                <a:latin typeface="Times New Roman" panose="02020603050405020304" pitchFamily="18" charset="0"/>
                <a:cs typeface="Times New Roman" panose="02020603050405020304" pitchFamily="18" charset="0"/>
              </a:rPr>
              <a:t>Compare proposed and Existed</a:t>
            </a:r>
          </a:p>
          <a:p>
            <a:r>
              <a:rPr lang="en-US" sz="3200" dirty="0" smtClean="0">
                <a:latin typeface="Times New Roman" panose="02020603050405020304" pitchFamily="18" charset="0"/>
                <a:cs typeface="Times New Roman" panose="02020603050405020304" pitchFamily="18" charset="0"/>
              </a:rPr>
              <a:t>System Requirements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08690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6B14F-9972-9D19-0A48-6F270F19CEE4}"/>
              </a:ext>
            </a:extLst>
          </p:cNvPr>
          <p:cNvSpPr>
            <a:spLocks noGrp="1"/>
          </p:cNvSpPr>
          <p:nvPr>
            <p:ph type="title"/>
          </p:nvPr>
        </p:nvSpPr>
        <p:spPr>
          <a:xfrm>
            <a:off x="2035009" y="158746"/>
            <a:ext cx="6589199" cy="1280890"/>
          </a:xfrm>
        </p:spPr>
        <p:txBody>
          <a:bodyPr>
            <a:normAutofit/>
          </a:bodyPr>
          <a:lstStyle/>
          <a:p>
            <a:pPr algn="ctr"/>
            <a:r>
              <a:rPr lang="en-US" sz="4800" dirty="0">
                <a:solidFill>
                  <a:srgbClr val="FF000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31BE6DF6-72E4-E49D-E9BE-2B28BF7A70F3}"/>
              </a:ext>
            </a:extLst>
          </p:cNvPr>
          <p:cNvSpPr>
            <a:spLocks noGrp="1"/>
          </p:cNvSpPr>
          <p:nvPr>
            <p:ph idx="1"/>
          </p:nvPr>
        </p:nvSpPr>
        <p:spPr>
          <a:xfrm>
            <a:off x="1942415" y="1251857"/>
            <a:ext cx="6591985" cy="3777622"/>
          </a:xfrm>
        </p:spPr>
        <p:txBody>
          <a:bodyPr>
            <a:noAutofit/>
          </a:bodyPr>
          <a:lstStyle/>
          <a:p>
            <a:pPr marL="0" indent="0" algn="just">
              <a:buNone/>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In recent years, maintaining a balanced diet and monitoring calorie intake has become increasingly important for a healthy lifestyle. However, traditional calorie tracking methods require manual input and are often time-consuming and inaccurate. To overcome these challenges, this project presents an AI-Based Food Calorie Estimation System using the Gemini </a:t>
            </a:r>
            <a:r>
              <a:rPr lang="en-US" sz="1400" dirty="0" err="1">
                <a:latin typeface="Times New Roman" panose="02020603050405020304" pitchFamily="18" charset="0"/>
                <a:cs typeface="Times New Roman" panose="02020603050405020304" pitchFamily="18" charset="0"/>
              </a:rPr>
              <a:t>API.The</a:t>
            </a:r>
            <a:r>
              <a:rPr lang="en-US" sz="1400" dirty="0">
                <a:latin typeface="Times New Roman" panose="02020603050405020304" pitchFamily="18" charset="0"/>
                <a:cs typeface="Times New Roman" panose="02020603050405020304" pitchFamily="18" charset="0"/>
              </a:rPr>
              <a:t> proposed system allows users to upload an image of food, which is then processed using the Gemini API for intelligent analysis. Instead of relying on locally trained machine learning models, the system leverages the capabilities of a large multimodal AI model to identify food items and estimate their calorie content. The API interprets the visual input, recognizes the type of food, and provides an approximate calorie value based on its understanding of nutritional information. The system is implemented using a web-based interface built with Flask, where users can easily upload images and receive instant results. Image preprocessing techniques are applied before sending data to the API to improve accuracy. The use of the Gemini API simplifies the development process by eliminating the need for complex model training while still achieving reliable predictions. This approach provides a fast, efficient, and user-friendly solution for calorie estimation. The system can be further enhanced by integrating real-time image capture, personalized diet recommendations, and mobile application support, making it a practical tool for everyday health monitoring. </a:t>
            </a:r>
            <a:endParaRPr lang="en-US" sz="1400" dirty="0" smtClean="0">
              <a:latin typeface="Times New Roman" panose="02020603050405020304" pitchFamily="18" charset="0"/>
              <a:cs typeface="Times New Roman" panose="02020603050405020304" pitchFamily="18" charset="0"/>
            </a:endParaRPr>
          </a:p>
          <a:p>
            <a:pPr marL="0" indent="0" algn="just">
              <a:buNone/>
            </a:pPr>
            <a:r>
              <a:rPr lang="en-US" sz="1400" b="1" dirty="0" smtClean="0">
                <a:latin typeface="Times New Roman" panose="02020603050405020304" pitchFamily="18" charset="0"/>
                <a:cs typeface="Times New Roman" panose="02020603050405020304" pitchFamily="18" charset="0"/>
              </a:rPr>
              <a:t>Keywords</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Artificial Intelligence, Gemini API, Food Recognition, Calorie Estimation, Image Analysis, Multimodal AI, Flask, Web Application, Nutritional Analysis, Image Processing</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1527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400" b="1"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noAutofit/>
          </a:bodyPr>
          <a:lstStyle/>
          <a:p>
            <a:pPr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Manual calorie tracking is inaccurate and inconvenient for daily use.</a:t>
            </a:r>
          </a:p>
          <a:p>
            <a:pPr algn="just">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There is a need for an AI-based system that can estimate calories from food images accurately and automatically</a:t>
            </a:r>
            <a:r>
              <a:rPr lang="en-US" sz="2400" dirty="0">
                <a:latin typeface="Times New Roman" panose="02020603050405020304" pitchFamily="18" charset="0"/>
                <a:cs typeface="Times New Roman" panose="02020603050405020304" pitchFamily="18" charset="0"/>
              </a:rPr>
              <a:t>.</a:t>
            </a:r>
          </a:p>
          <a:p>
            <a:pPr algn="just"/>
            <a:endParaRPr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400" b="1" dirty="0">
                <a:solidFill>
                  <a:srgbClr val="FF0000"/>
                </a:solidFill>
                <a:latin typeface="Times New Roman" panose="02020603050405020304" pitchFamily="18" charset="0"/>
                <a:cs typeface="Times New Roman" panose="02020603050405020304" pitchFamily="18" charset="0"/>
              </a:rPr>
              <a:t>Significance of the Problem</a:t>
            </a:r>
          </a:p>
        </p:txBody>
      </p:sp>
      <p:sp>
        <p:nvSpPr>
          <p:cNvPr id="3" name="Content Placeholder 2"/>
          <p:cNvSpPr>
            <a:spLocks noGrp="1"/>
          </p:cNvSpPr>
          <p:nvPr>
            <p:ph idx="1"/>
          </p:nvPr>
        </p:nvSpPr>
        <p:spPr/>
        <p:txBody>
          <a:bodyPr>
            <a:noAutofit/>
          </a:bodyPr>
          <a:lstStyle/>
          <a:p>
            <a:pPr marL="3240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Rising lifestyle diseases demand accurate calorie </a:t>
            </a:r>
            <a:r>
              <a:rPr lang="en-US" sz="2000" dirty="0" smtClean="0">
                <a:latin typeface="Times New Roman" panose="02020603050405020304" pitchFamily="18" charset="0"/>
                <a:cs typeface="Times New Roman" panose="02020603050405020304" pitchFamily="18" charset="0"/>
              </a:rPr>
              <a:t>awareness</a:t>
            </a:r>
            <a:endParaRPr lang="en-US" sz="2000" dirty="0">
              <a:latin typeface="Times New Roman" panose="02020603050405020304" pitchFamily="18" charset="0"/>
              <a:cs typeface="Times New Roman" panose="02020603050405020304" pitchFamily="18" charset="0"/>
            </a:endParaRPr>
          </a:p>
          <a:p>
            <a:pPr marL="3240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Manual calorie tracking is time-consuming and </a:t>
            </a:r>
            <a:r>
              <a:rPr lang="en-US" sz="2000" dirty="0" smtClean="0">
                <a:latin typeface="Times New Roman" panose="02020603050405020304" pitchFamily="18" charset="0"/>
                <a:cs typeface="Times New Roman" panose="02020603050405020304" pitchFamily="18" charset="0"/>
              </a:rPr>
              <a:t>error-prone</a:t>
            </a:r>
            <a:endParaRPr lang="en-US" sz="2000" dirty="0">
              <a:latin typeface="Times New Roman" panose="02020603050405020304" pitchFamily="18" charset="0"/>
              <a:cs typeface="Times New Roman" panose="02020603050405020304" pitchFamily="18" charset="0"/>
            </a:endParaRPr>
          </a:p>
          <a:p>
            <a:pPr marL="3240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Inaccurate estimation leads to poor dietary </a:t>
            </a:r>
            <a:r>
              <a:rPr lang="en-US" sz="2000" dirty="0" smtClean="0">
                <a:latin typeface="Times New Roman" panose="02020603050405020304" pitchFamily="18" charset="0"/>
                <a:cs typeface="Times New Roman" panose="02020603050405020304" pitchFamily="18" charset="0"/>
              </a:rPr>
              <a:t>decisions</a:t>
            </a:r>
            <a:endParaRPr lang="en-US" sz="2000" dirty="0">
              <a:latin typeface="Times New Roman" panose="02020603050405020304" pitchFamily="18" charset="0"/>
              <a:cs typeface="Times New Roman" panose="02020603050405020304" pitchFamily="18" charset="0"/>
            </a:endParaRPr>
          </a:p>
          <a:p>
            <a:pPr marL="324000"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Lack of automated solutions limits effective health </a:t>
            </a:r>
            <a:r>
              <a:rPr lang="en-US" sz="2000" dirty="0" smtClean="0">
                <a:latin typeface="Times New Roman" panose="02020603050405020304" pitchFamily="18" charset="0"/>
                <a:cs typeface="Times New Roman" panose="02020603050405020304" pitchFamily="18" charset="0"/>
              </a:rPr>
              <a:t>monitoring</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400" b="1" dirty="0">
                <a:solidFill>
                  <a:srgbClr val="FF0000"/>
                </a:solidFill>
                <a:latin typeface="Times New Roman" panose="02020603050405020304" pitchFamily="18" charset="0"/>
                <a:cs typeface="Times New Roman" panose="02020603050405020304" pitchFamily="18" charset="0"/>
              </a:rPr>
              <a:t>Literature Survey</a:t>
            </a:r>
          </a:p>
        </p:txBody>
      </p:sp>
      <p:sp>
        <p:nvSpPr>
          <p:cNvPr id="3" name="Content Placeholder 2"/>
          <p:cNvSpPr>
            <a:spLocks noGrp="1"/>
          </p:cNvSpPr>
          <p:nvPr>
            <p:ph idx="1"/>
          </p:nvPr>
        </p:nvSpPr>
        <p:spPr/>
        <p:txBody>
          <a:bodyPr>
            <a:noAutofit/>
          </a:bodyPr>
          <a:lstStyle/>
          <a:p>
            <a:pPr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Early systems used handcrafted features (color, texture, shape) with limited accuracy</a:t>
            </a:r>
          </a:p>
          <a:p>
            <a:pPr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Traditional methods struggled with mixed dishes, lighting, and presentation variations</a:t>
            </a:r>
          </a:p>
          <a:p>
            <a:pPr algn="just">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CNN-based models enabled automatic feature learning and improved food recognition</a:t>
            </a:r>
          </a:p>
          <a:p>
            <a:pPr algn="just">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Deep </a:t>
            </a:r>
            <a:r>
              <a:rPr lang="en-US" sz="2000" dirty="0">
                <a:latin typeface="Times New Roman" panose="02020603050405020304" pitchFamily="18" charset="0"/>
                <a:cs typeface="Times New Roman" panose="02020603050405020304" pitchFamily="18" charset="0"/>
              </a:rPr>
              <a:t>learning approaches offer a reliable and automated alternative to manual calorie tracking</a:t>
            </a:r>
            <a:endParaRPr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b="1" dirty="0">
                <a:solidFill>
                  <a:srgbClr val="FF0000"/>
                </a:solidFill>
                <a:latin typeface="Times New Roman" panose="02020603050405020304" pitchFamily="18" charset="0"/>
                <a:cs typeface="Times New Roman" panose="02020603050405020304" pitchFamily="18" charset="0"/>
              </a:rPr>
              <a:t>Proposed System</a:t>
            </a:r>
            <a:endParaRPr sz="4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User captures or uploads a food image</a:t>
            </a:r>
          </a:p>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Image is preprocessed (resize, normalization, augmentation)</a:t>
            </a:r>
          </a:p>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CNN model extracts visual features</a:t>
            </a:r>
          </a:p>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Food item is classified</a:t>
            </a:r>
          </a:p>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Calorie value is retrieved from nutritional database</a:t>
            </a:r>
          </a:p>
          <a:p>
            <a:pPr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Final calorie estimate is displayed to the user</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2800" b="1" dirty="0">
                <a:solidFill>
                  <a:srgbClr val="FF0000"/>
                </a:solidFill>
                <a:latin typeface="Times New Roman" panose="02020603050405020304" pitchFamily="18" charset="0"/>
                <a:cs typeface="Times New Roman" panose="02020603050405020304" pitchFamily="18" charset="0"/>
              </a:rPr>
              <a:t>Comparison of Proposed and Existing System</a:t>
            </a:r>
          </a:p>
        </p:txBody>
      </p:sp>
      <p:sp>
        <p:nvSpPr>
          <p:cNvPr id="3" name="Content Placeholder 2"/>
          <p:cNvSpPr>
            <a:spLocks noGrp="1"/>
          </p:cNvSpPr>
          <p:nvPr>
            <p:ph idx="1"/>
          </p:nvPr>
        </p:nvSpPr>
        <p:spPr>
          <a:xfrm>
            <a:off x="1747157" y="1789471"/>
            <a:ext cx="6787244" cy="4686280"/>
          </a:xfrm>
        </p:spPr>
        <p:txBody>
          <a:bodyPr>
            <a:noAutofit/>
          </a:bodyPr>
          <a:lstStyle/>
          <a:p>
            <a:endParaRPr lang="en-IN" b="1" dirty="0" smtClean="0"/>
          </a:p>
          <a:p>
            <a:pPr marL="0" indent="0">
              <a:buNone/>
            </a:pPr>
            <a:r>
              <a:rPr lang="en-IN" sz="2000" b="1" dirty="0" smtClean="0">
                <a:latin typeface="Times New Roman" panose="02020603050405020304" pitchFamily="18" charset="0"/>
                <a:cs typeface="Times New Roman" panose="02020603050405020304" pitchFamily="18" charset="0"/>
              </a:rPr>
              <a:t>Traditional </a:t>
            </a:r>
            <a:r>
              <a:rPr lang="en-IN" sz="2000" b="1" dirty="0">
                <a:latin typeface="Times New Roman" panose="02020603050405020304" pitchFamily="18" charset="0"/>
                <a:cs typeface="Times New Roman" panose="02020603050405020304" pitchFamily="18" charset="0"/>
              </a:rPr>
              <a:t>Manual Methods</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Time consuming manual entry</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High human error rate</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Inconsistent portion estimation</a:t>
            </a:r>
          </a:p>
          <a:p>
            <a:pPr marL="0" indent="0">
              <a:buNone/>
            </a:pPr>
            <a:r>
              <a:rPr lang="en-IN" sz="2000" b="1" dirty="0" smtClean="0">
                <a:latin typeface="Times New Roman" panose="02020603050405020304" pitchFamily="18" charset="0"/>
                <a:cs typeface="Times New Roman" panose="02020603050405020304" pitchFamily="18" charset="0"/>
              </a:rPr>
              <a:t>Proposed </a:t>
            </a:r>
            <a:r>
              <a:rPr lang="en-IN" sz="2000" b="1" dirty="0">
                <a:latin typeface="Times New Roman" panose="02020603050405020304" pitchFamily="18" charset="0"/>
                <a:cs typeface="Times New Roman" panose="02020603050405020304" pitchFamily="18" charset="0"/>
              </a:rPr>
              <a:t>AI System</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Instant image-based analysis</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92.4% classification accuracy</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Automated portion detection</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User-friendly interface</a:t>
            </a:r>
          </a:p>
          <a:p>
            <a:pPr>
              <a:buFont typeface="Wingdings" panose="05000000000000000000" pitchFamily="2" charset="2"/>
              <a:buChar char="ü"/>
            </a:pPr>
            <a:r>
              <a:rPr lang="en-IN" sz="2000" dirty="0">
                <a:latin typeface="Times New Roman" panose="02020603050405020304" pitchFamily="18" charset="0"/>
                <a:cs typeface="Times New Roman" panose="02020603050405020304" pitchFamily="18" charset="0"/>
              </a:rPr>
              <a:t>10,000+ food items covered</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solidFill>
                  <a:srgbClr val="FF0000"/>
                </a:solidFill>
                <a:latin typeface="Times New Roman" panose="02020603050405020304" pitchFamily="18" charset="0"/>
                <a:cs typeface="Times New Roman" panose="02020603050405020304" pitchFamily="18" charset="0"/>
              </a:rPr>
              <a:t>System Requirements</a:t>
            </a:r>
            <a:endParaRPr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sz="2400" b="1" dirty="0">
                <a:latin typeface="Times New Roman" panose="02020603050405020304" pitchFamily="18" charset="0"/>
                <a:cs typeface="Times New Roman" panose="02020603050405020304" pitchFamily="18" charset="0"/>
              </a:rPr>
              <a:t>Softwa</a:t>
            </a:r>
            <a:r>
              <a:rPr lang="en-US" sz="2400" b="1" dirty="0">
                <a:latin typeface="Times New Roman" panose="02020603050405020304" pitchFamily="18" charset="0"/>
                <a:cs typeface="Times New Roman" panose="02020603050405020304" pitchFamily="18" charset="0"/>
              </a:rPr>
              <a:t>re Requirements</a:t>
            </a:r>
            <a:r>
              <a:rPr lang="en-US" sz="2400" b="1"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Python </a:t>
            </a:r>
            <a:r>
              <a:rPr lang="en-US" sz="2000" dirty="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TensorFlow</a:t>
            </a:r>
            <a:r>
              <a:rPr lang="en-US" sz="2000" dirty="0" smtClean="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PyTorch</a:t>
            </a:r>
            <a:r>
              <a:rPr lang="en-US" sz="2000" dirty="0" smtClean="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OpenCV</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Flask/</a:t>
            </a:r>
            <a:r>
              <a:rPr lang="en-US" sz="2000" dirty="0" err="1" smtClean="0">
                <a:latin typeface="Times New Roman" panose="02020603050405020304" pitchFamily="18" charset="0"/>
                <a:cs typeface="Times New Roman" panose="02020603050405020304" pitchFamily="18" charset="0"/>
              </a:rPr>
              <a:t>FastAPI</a:t>
            </a:r>
            <a:r>
              <a:rPr lang="en-US" sz="2000" dirty="0" smtClean="0">
                <a:latin typeface="Times New Roman" panose="02020603050405020304" pitchFamily="18" charset="0"/>
                <a:cs typeface="Times New Roman" panose="02020603050405020304" pitchFamily="18" charset="0"/>
              </a:rPr>
              <a:t>      MySQL/MongoDB</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0" indent="0">
              <a:buNone/>
            </a:pPr>
            <a:r>
              <a:rPr sz="2400" b="1" dirty="0">
                <a:latin typeface="Times New Roman" panose="02020603050405020304" pitchFamily="18" charset="0"/>
                <a:cs typeface="Times New Roman" panose="02020603050405020304" pitchFamily="18" charset="0"/>
              </a:rPr>
              <a:t>Hardware</a:t>
            </a:r>
            <a:r>
              <a:rPr lang="en-US" sz="2400" b="1" dirty="0">
                <a:latin typeface="Times New Roman" panose="02020603050405020304" pitchFamily="18" charset="0"/>
                <a:cs typeface="Times New Roman" panose="02020603050405020304" pitchFamily="18" charset="0"/>
              </a:rPr>
              <a:t> Requirements</a:t>
            </a:r>
            <a:r>
              <a:rPr sz="2400" b="1" dirty="0" smtClean="0">
                <a:latin typeface="Times New Roman" panose="02020603050405020304" pitchFamily="18" charset="0"/>
                <a:cs typeface="Times New Roman" panose="02020603050405020304" pitchFamily="18" charset="0"/>
              </a:rPr>
              <a:t>:</a:t>
            </a:r>
            <a:endParaRPr lang="en-US" sz="2400"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GPU-enabled workstation for training, mid-range servers for deployment, and smartphones for client-side usage.</a:t>
            </a: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Smartphone camera or digital camera for food image </a:t>
            </a:r>
            <a:r>
              <a:rPr lang="en-US" sz="2000" dirty="0" smtClean="0">
                <a:latin typeface="Times New Roman" panose="02020603050405020304" pitchFamily="18" charset="0"/>
                <a:cs typeface="Times New Roman" panose="02020603050405020304" pitchFamily="18" charset="0"/>
              </a:rPr>
              <a:t>capture and Internet </a:t>
            </a:r>
            <a:r>
              <a:rPr lang="en-US" sz="2000" dirty="0">
                <a:latin typeface="Times New Roman" panose="02020603050405020304" pitchFamily="18" charset="0"/>
                <a:cs typeface="Times New Roman" panose="02020603050405020304" pitchFamily="18" charset="0"/>
              </a:rPr>
              <a:t>Connection</a:t>
            </a:r>
            <a:endParaRPr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hank You Images - Free Download on Freepik">
            <a:extLst>
              <a:ext uri="{FF2B5EF4-FFF2-40B4-BE49-F238E27FC236}">
                <a16:creationId xmlns:a16="http://schemas.microsoft.com/office/drawing/2014/main" id="{805F72DB-BB68-B4C8-D55F-B52338F3126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04103" y="1456532"/>
            <a:ext cx="5120111" cy="3626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791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576</TotalTime>
  <Words>585</Words>
  <Application>Microsoft Office PowerPoint</Application>
  <PresentationFormat>On-screen Show (4:3)</PresentationFormat>
  <Paragraphs>63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Century Gothic</vt:lpstr>
      <vt:lpstr>Old English Text MT</vt:lpstr>
      <vt:lpstr>Times New Roman</vt:lpstr>
      <vt:lpstr>Wingdings</vt:lpstr>
      <vt:lpstr>Wingdings 3</vt:lpstr>
      <vt:lpstr>Wisp</vt:lpstr>
      <vt:lpstr>Bapatla Engineering College Department of Information Technology</vt:lpstr>
      <vt:lpstr>Contents</vt:lpstr>
      <vt:lpstr>Abstract</vt:lpstr>
      <vt:lpstr>Problem Statement</vt:lpstr>
      <vt:lpstr>Significance of the Problem</vt:lpstr>
      <vt:lpstr>Literature Survey</vt:lpstr>
      <vt:lpstr>Proposed System</vt:lpstr>
      <vt:lpstr>Comparison of Proposed and Existing System</vt:lpstr>
      <vt:lpstr>System Requirements</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Bapatla Engineering College Department of Information technology</dc:title>
  <dc:creator>Jyothsna kasa</dc:creator>
  <dc:description>generated using python-pptx</dc:description>
  <cp:lastModifiedBy>Hima Bindu</cp:lastModifiedBy>
  <cp:revision>30</cp:revision>
  <dcterms:created xsi:type="dcterms:W3CDTF">2013-01-27T09:14:16Z</dcterms:created>
  <dcterms:modified xsi:type="dcterms:W3CDTF">2026-04-09T02:56:07Z</dcterms:modified>
</cp:coreProperties>
</file>