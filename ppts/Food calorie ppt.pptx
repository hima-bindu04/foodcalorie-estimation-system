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2" r:id="rId1"/>
  </p:sldMasterIdLst>
  <p:sldIdLst>
    <p:sldId id="269" r:id="rId2"/>
    <p:sldId id="271" r:id="rId3"/>
    <p:sldId id="283" r:id="rId4"/>
    <p:sldId id="284" r:id="rId5"/>
    <p:sldId id="285" r:id="rId6"/>
    <p:sldId id="272" r:id="rId7"/>
    <p:sldId id="282" r:id="rId8"/>
    <p:sldId id="286" r:id="rId9"/>
    <p:sldId id="257" r:id="rId10"/>
    <p:sldId id="258" r:id="rId11"/>
    <p:sldId id="287" r:id="rId12"/>
    <p:sldId id="288" r:id="rId13"/>
    <p:sldId id="289" r:id="rId14"/>
    <p:sldId id="259" r:id="rId15"/>
    <p:sldId id="290" r:id="rId16"/>
    <p:sldId id="276" r:id="rId17"/>
    <p:sldId id="277" r:id="rId18"/>
    <p:sldId id="278" r:id="rId19"/>
    <p:sldId id="279" r:id="rId20"/>
    <p:sldId id="280" r:id="rId21"/>
    <p:sldId id="291" r:id="rId22"/>
    <p:sldId id="292" r:id="rId23"/>
    <p:sldId id="281" r:id="rId24"/>
    <p:sldId id="267"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3" d="100"/>
          <a:sy n="63" d="100"/>
        </p:scale>
        <p:origin x="77" y="7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855227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79302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512842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864562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414519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1310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4246469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97531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323911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409112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pPr/>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902567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3331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pPr/>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24625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7867222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56082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014264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pPr/>
              <a:t>4/7/2026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4237982002"/>
      </p:ext>
    </p:extLst>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 id="2147483974" r:id="rId12"/>
    <p:sldLayoutId id="2147483975" r:id="rId13"/>
    <p:sldLayoutId id="2147483976" r:id="rId14"/>
    <p:sldLayoutId id="2147483977" r:id="rId15"/>
    <p:sldLayoutId id="214748397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B2E86EFA-8396-AEA6-5444-C835EC877B45}"/>
              </a:ext>
            </a:extLst>
          </p:cNvPr>
          <p:cNvSpPr>
            <a:spLocks noGrp="1"/>
          </p:cNvSpPr>
          <p:nvPr>
            <p:ph type="title"/>
          </p:nvPr>
        </p:nvSpPr>
        <p:spPr>
          <a:xfrm>
            <a:off x="1006846" y="197982"/>
            <a:ext cx="8317032" cy="1325563"/>
          </a:xfrm>
        </p:spPr>
        <p:txBody>
          <a:bodyPr>
            <a:normAutofit/>
          </a:bodyPr>
          <a:lstStyle/>
          <a:p>
            <a:pPr algn="ctr"/>
            <a:r>
              <a:rPr lang="en-US" sz="4400" dirty="0" err="1">
                <a:latin typeface="Old English Text MT" panose="03040902040508030806" pitchFamily="66" charset="0"/>
                <a:cs typeface="Times New Roman" panose="02020603050405020304" pitchFamily="18" charset="0"/>
              </a:rPr>
              <a:t>Bapatla</a:t>
            </a:r>
            <a:r>
              <a:rPr lang="en-US" sz="4400" dirty="0">
                <a:latin typeface="Old English Text MT" panose="03040902040508030806" pitchFamily="66" charset="0"/>
                <a:cs typeface="Times New Roman" panose="02020603050405020304" pitchFamily="18" charset="0"/>
              </a:rPr>
              <a:t> Engineering College</a:t>
            </a:r>
            <a:r>
              <a:rPr lang="en-US" sz="4000" dirty="0">
                <a:latin typeface="Times New Roman" panose="02020603050405020304" pitchFamily="18" charset="0"/>
                <a:cs typeface="Times New Roman" panose="02020603050405020304" pitchFamily="18" charset="0"/>
              </a:rPr>
              <a:t/>
            </a:r>
            <a:br>
              <a:rPr lang="en-US" sz="4000" dirty="0">
                <a:latin typeface="Times New Roman" panose="02020603050405020304" pitchFamily="18" charset="0"/>
                <a:cs typeface="Times New Roman" panose="02020603050405020304" pitchFamily="18" charset="0"/>
              </a:rPr>
            </a:br>
            <a:r>
              <a:rPr lang="en-US" sz="2800" dirty="0">
                <a:solidFill>
                  <a:schemeClr val="accent2"/>
                </a:solidFill>
                <a:latin typeface="Times New Roman" panose="02020603050405020304" pitchFamily="18" charset="0"/>
                <a:cs typeface="Times New Roman" panose="02020603050405020304" pitchFamily="18" charset="0"/>
              </a:rPr>
              <a:t>Department of Information Technology</a:t>
            </a:r>
          </a:p>
        </p:txBody>
      </p:sp>
      <p:pic>
        <p:nvPicPr>
          <p:cNvPr id="16" name="Content Placeholder 15">
            <a:extLst>
              <a:ext uri="{FF2B5EF4-FFF2-40B4-BE49-F238E27FC236}">
                <a16:creationId xmlns:a16="http://schemas.microsoft.com/office/drawing/2014/main" id="{408B7C28-A967-27C0-D9D5-196B99F9297C}"/>
              </a:ext>
            </a:extLst>
          </p:cNvPr>
          <p:cNvPicPr>
            <a:picLocks noGrp="1" noChangeAspect="1"/>
          </p:cNvPicPr>
          <p:nvPr>
            <p:ph sz="half" idx="1"/>
          </p:nvPr>
        </p:nvPicPr>
        <p:blipFill>
          <a:blip r:embed="rId2"/>
          <a:stretch>
            <a:fillRect/>
          </a:stretch>
        </p:blipFill>
        <p:spPr>
          <a:xfrm>
            <a:off x="264543" y="149525"/>
            <a:ext cx="1575759" cy="1505980"/>
          </a:xfrm>
          <a:prstGeom prst="rect">
            <a:avLst/>
          </a:prstGeom>
        </p:spPr>
      </p:pic>
      <p:sp>
        <p:nvSpPr>
          <p:cNvPr id="12" name="Content Placeholder 11">
            <a:extLst>
              <a:ext uri="{FF2B5EF4-FFF2-40B4-BE49-F238E27FC236}">
                <a16:creationId xmlns:a16="http://schemas.microsoft.com/office/drawing/2014/main" id="{2B4C08B8-F6F9-E545-1ADF-8D1464451912}"/>
              </a:ext>
            </a:extLst>
          </p:cNvPr>
          <p:cNvSpPr>
            <a:spLocks noGrp="1"/>
          </p:cNvSpPr>
          <p:nvPr>
            <p:ph sz="half" idx="2"/>
          </p:nvPr>
        </p:nvSpPr>
        <p:spPr>
          <a:xfrm>
            <a:off x="647086" y="1655505"/>
            <a:ext cx="7826477" cy="4885188"/>
          </a:xfrm>
        </p:spPr>
        <p:txBody>
          <a:bodyPr>
            <a:normAutofit fontScale="70000" lnSpcReduction="20000"/>
          </a:bodyPr>
          <a:lstStyle/>
          <a:p>
            <a:pPr marL="0" indent="0" algn="ctr">
              <a:buNone/>
            </a:pPr>
            <a:r>
              <a:rPr lang="en-US" sz="2600" dirty="0">
                <a:solidFill>
                  <a:schemeClr val="accent2"/>
                </a:solidFill>
                <a:latin typeface="Times New Roman" panose="02020603050405020304" pitchFamily="18" charset="0"/>
                <a:cs typeface="Times New Roman" panose="02020603050405020304" pitchFamily="18" charset="0"/>
              </a:rPr>
              <a:t>Project Review – </a:t>
            </a:r>
            <a:r>
              <a:rPr lang="en-US" sz="2600" dirty="0" smtClean="0">
                <a:solidFill>
                  <a:schemeClr val="accent2"/>
                </a:solidFill>
                <a:latin typeface="Times New Roman" panose="02020603050405020304" pitchFamily="18" charset="0"/>
                <a:cs typeface="Times New Roman" panose="02020603050405020304" pitchFamily="18" charset="0"/>
              </a:rPr>
              <a:t>II</a:t>
            </a:r>
            <a:endParaRPr lang="en-US" sz="2600" dirty="0">
              <a:solidFill>
                <a:schemeClr val="accent2"/>
              </a:solidFill>
              <a:latin typeface="Times New Roman" panose="02020603050405020304" pitchFamily="18" charset="0"/>
              <a:cs typeface="Times New Roman" panose="02020603050405020304" pitchFamily="18" charset="0"/>
            </a:endParaRPr>
          </a:p>
          <a:p>
            <a:pPr marL="0" indent="0" algn="ctr">
              <a:buNone/>
            </a:pPr>
            <a:r>
              <a:rPr lang="en-US" sz="2600" dirty="0">
                <a:solidFill>
                  <a:schemeClr val="accent2"/>
                </a:solidFill>
                <a:latin typeface="Times New Roman" panose="02020603050405020304" pitchFamily="18" charset="0"/>
                <a:cs typeface="Times New Roman" panose="02020603050405020304" pitchFamily="18" charset="0"/>
              </a:rPr>
              <a:t>on</a:t>
            </a:r>
          </a:p>
          <a:p>
            <a:pPr marL="0" indent="0" algn="ctr">
              <a:lnSpc>
                <a:spcPct val="170000"/>
              </a:lnSpc>
              <a:buNone/>
            </a:pPr>
            <a:r>
              <a:rPr lang="en-US" sz="2800" b="1" dirty="0">
                <a:latin typeface="Times New Roman" panose="02020603050405020304" pitchFamily="18" charset="0"/>
                <a:cs typeface="Times New Roman" panose="02020603050405020304" pitchFamily="18" charset="0"/>
              </a:rPr>
              <a:t>FOOD CALORIE ESTIMATION SYSTEM USING COMPUTER VISION AND DATA SCIENCE </a:t>
            </a:r>
          </a:p>
          <a:p>
            <a:pPr marL="0" indent="0" algn="ctr">
              <a:lnSpc>
                <a:spcPct val="100000"/>
              </a:lnSpc>
              <a:buNone/>
            </a:pPr>
            <a:r>
              <a:rPr lang="en-US" sz="2400" dirty="0">
                <a:solidFill>
                  <a:schemeClr val="accent6">
                    <a:lumMod val="75000"/>
                  </a:schemeClr>
                </a:solidFill>
                <a:latin typeface="Times New Roman" panose="02020603050405020304" pitchFamily="18" charset="0"/>
                <a:cs typeface="Times New Roman" panose="02020603050405020304" pitchFamily="18" charset="0"/>
              </a:rPr>
              <a:t>Under the Esteemed Guidance</a:t>
            </a:r>
          </a:p>
          <a:p>
            <a:pPr marL="0" indent="0" algn="ctr">
              <a:lnSpc>
                <a:spcPct val="100000"/>
              </a:lnSpc>
              <a:buNone/>
            </a:pPr>
            <a:r>
              <a:rPr lang="en-US" sz="2400" dirty="0">
                <a:solidFill>
                  <a:schemeClr val="accent6">
                    <a:lumMod val="75000"/>
                  </a:schemeClr>
                </a:solidFill>
                <a:latin typeface="Times New Roman" panose="02020603050405020304" pitchFamily="18" charset="0"/>
                <a:cs typeface="Times New Roman" panose="02020603050405020304" pitchFamily="18" charset="0"/>
              </a:rPr>
              <a:t>of</a:t>
            </a:r>
          </a:p>
          <a:p>
            <a:pPr marL="0" indent="0" algn="ctr">
              <a:lnSpc>
                <a:spcPct val="100000"/>
              </a:lnSpc>
              <a:buNone/>
            </a:pPr>
            <a:r>
              <a:rPr lang="en-US" sz="2400" dirty="0">
                <a:solidFill>
                  <a:schemeClr val="accent6">
                    <a:lumMod val="75000"/>
                  </a:schemeClr>
                </a:solidFill>
                <a:latin typeface="Times New Roman" panose="02020603050405020304" pitchFamily="18" charset="0"/>
                <a:cs typeface="Times New Roman" panose="02020603050405020304" pitchFamily="18" charset="0"/>
              </a:rPr>
              <a:t>Dr. P. </a:t>
            </a:r>
            <a:r>
              <a:rPr lang="en-US" sz="2400" dirty="0" err="1">
                <a:solidFill>
                  <a:schemeClr val="accent6">
                    <a:lumMod val="75000"/>
                  </a:schemeClr>
                </a:solidFill>
                <a:latin typeface="Times New Roman" panose="02020603050405020304" pitchFamily="18" charset="0"/>
                <a:cs typeface="Times New Roman" panose="02020603050405020304" pitchFamily="18" charset="0"/>
              </a:rPr>
              <a:t>Sreedhar</a:t>
            </a:r>
            <a:r>
              <a:rPr lang="en-US" sz="2400" dirty="0">
                <a:solidFill>
                  <a:schemeClr val="accent6">
                    <a:lumMod val="75000"/>
                  </a:schemeClr>
                </a:solidFill>
                <a:latin typeface="Times New Roman" panose="02020603050405020304" pitchFamily="18" charset="0"/>
                <a:cs typeface="Times New Roman" panose="02020603050405020304" pitchFamily="18" charset="0"/>
              </a:rPr>
              <a:t> </a:t>
            </a:r>
            <a:r>
              <a:rPr lang="en-US" sz="2400" baseline="-25000" dirty="0">
                <a:solidFill>
                  <a:schemeClr val="accent6">
                    <a:lumMod val="75000"/>
                  </a:schemeClr>
                </a:solidFill>
                <a:latin typeface="Times New Roman" panose="02020603050405020304" pitchFamily="18" charset="0"/>
                <a:cs typeface="Times New Roman" panose="02020603050405020304" pitchFamily="18" charset="0"/>
              </a:rPr>
              <a:t>M.Tech.,,</a:t>
            </a:r>
            <a:r>
              <a:rPr lang="en-US" sz="2400" baseline="-25000" dirty="0" err="1">
                <a:solidFill>
                  <a:schemeClr val="accent6">
                    <a:lumMod val="75000"/>
                  </a:schemeClr>
                </a:solidFill>
                <a:latin typeface="Times New Roman" panose="02020603050405020304" pitchFamily="18" charset="0"/>
                <a:cs typeface="Times New Roman" panose="02020603050405020304" pitchFamily="18" charset="0"/>
              </a:rPr>
              <a:t>Ph.D</a:t>
            </a:r>
            <a:endParaRPr lang="en-US" sz="2400" baseline="-25000"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ctr">
              <a:buNone/>
            </a:pPr>
            <a:endParaRPr lang="en-US" sz="2400" dirty="0">
              <a:solidFill>
                <a:srgbClr val="0070C0"/>
              </a:solidFill>
              <a:latin typeface="Times New Roman" panose="02020603050405020304" pitchFamily="18" charset="0"/>
              <a:cs typeface="Times New Roman" panose="02020603050405020304" pitchFamily="18" charset="0"/>
            </a:endParaRPr>
          </a:p>
          <a:p>
            <a:pPr marL="0" indent="0" algn="ctr">
              <a:buNone/>
            </a:pPr>
            <a:r>
              <a:rPr lang="en-US" sz="2400" dirty="0">
                <a:solidFill>
                  <a:srgbClr val="0070C0"/>
                </a:solidFill>
                <a:latin typeface="Times New Roman" panose="02020603050405020304" pitchFamily="18" charset="0"/>
                <a:cs typeface="Times New Roman" panose="02020603050405020304" pitchFamily="18" charset="0"/>
              </a:rPr>
              <a:t>Presented By,</a:t>
            </a:r>
          </a:p>
          <a:p>
            <a:pPr marL="0" indent="0" algn="r">
              <a:buNone/>
            </a:pPr>
            <a:r>
              <a:rPr lang="en-US" sz="2400" dirty="0" err="1">
                <a:solidFill>
                  <a:srgbClr val="0070C0"/>
                </a:solidFill>
                <a:latin typeface="Times New Roman" panose="02020603050405020304" pitchFamily="18" charset="0"/>
                <a:cs typeface="Times New Roman" panose="02020603050405020304" pitchFamily="18" charset="0"/>
              </a:rPr>
              <a:t>M.MadhuLatha</a:t>
            </a:r>
            <a:r>
              <a:rPr lang="en-US" sz="2400" dirty="0">
                <a:solidFill>
                  <a:srgbClr val="0070C0"/>
                </a:solidFill>
                <a:latin typeface="Times New Roman" panose="02020603050405020304" pitchFamily="18" charset="0"/>
                <a:cs typeface="Times New Roman" panose="02020603050405020304" pitchFamily="18" charset="0"/>
              </a:rPr>
              <a:t>            - Y22AIT474</a:t>
            </a:r>
          </a:p>
          <a:p>
            <a:pPr marL="0" indent="0" algn="r">
              <a:buNone/>
            </a:pPr>
            <a:r>
              <a:rPr lang="en-US" sz="2400" dirty="0" err="1">
                <a:solidFill>
                  <a:srgbClr val="0070C0"/>
                </a:solidFill>
                <a:latin typeface="Times New Roman" panose="02020603050405020304" pitchFamily="18" charset="0"/>
                <a:cs typeface="Times New Roman" panose="02020603050405020304" pitchFamily="18" charset="0"/>
              </a:rPr>
              <a:t>Y.Manikanta</a:t>
            </a:r>
            <a:r>
              <a:rPr lang="en-US" sz="2400" dirty="0">
                <a:solidFill>
                  <a:srgbClr val="0070C0"/>
                </a:solidFill>
                <a:latin typeface="Times New Roman" panose="02020603050405020304" pitchFamily="18" charset="0"/>
                <a:cs typeface="Times New Roman" panose="02020603050405020304" pitchFamily="18" charset="0"/>
              </a:rPr>
              <a:t>                 - Y22AIT530</a:t>
            </a:r>
          </a:p>
          <a:p>
            <a:pPr marL="0" indent="0" algn="r">
              <a:buNone/>
            </a:pPr>
            <a:r>
              <a:rPr lang="en-US" sz="2400" dirty="0" err="1">
                <a:solidFill>
                  <a:srgbClr val="0070C0"/>
                </a:solidFill>
                <a:latin typeface="Times New Roman" panose="02020603050405020304" pitchFamily="18" charset="0"/>
                <a:cs typeface="Times New Roman" panose="02020603050405020304" pitchFamily="18" charset="0"/>
              </a:rPr>
              <a:t>A.D.S.G.Hima</a:t>
            </a:r>
            <a:r>
              <a:rPr lang="en-US" sz="2400" dirty="0">
                <a:solidFill>
                  <a:srgbClr val="0070C0"/>
                </a:solidFill>
                <a:latin typeface="Times New Roman" panose="02020603050405020304" pitchFamily="18" charset="0"/>
                <a:cs typeface="Times New Roman" panose="02020603050405020304" pitchFamily="18" charset="0"/>
              </a:rPr>
              <a:t> Bindu    -Y22AIT401</a:t>
            </a:r>
          </a:p>
          <a:p>
            <a:pPr marL="0" indent="0" algn="r">
              <a:buNone/>
            </a:pP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G.Ravi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Teja</a:t>
            </a:r>
            <a:r>
              <a:rPr lang="en-US" sz="2400" dirty="0">
                <a:solidFill>
                  <a:srgbClr val="0070C0"/>
                </a:solidFill>
                <a:latin typeface="Times New Roman" panose="02020603050405020304" pitchFamily="18" charset="0"/>
                <a:cs typeface="Times New Roman" panose="02020603050405020304" pitchFamily="18" charset="0"/>
              </a:rPr>
              <a:t>                    -Y22AIT426</a:t>
            </a:r>
          </a:p>
          <a:p>
            <a:pPr marL="0" indent="0" algn="ctr">
              <a:lnSpc>
                <a:spcPct val="100000"/>
              </a:lnSpc>
              <a:buNone/>
            </a:pP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a:p>
            <a:pPr marL="0" indent="0" algn="ctr">
              <a:lnSpc>
                <a:spcPct val="100000"/>
              </a:lnSpc>
              <a:buNone/>
            </a:pPr>
            <a:endParaRPr lang="en-US" sz="2400" dirty="0">
              <a:solidFill>
                <a:schemeClr val="accent6">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791959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B4A52-A465-7764-DDB2-92913D8581EA}"/>
              </a:ext>
            </a:extLst>
          </p:cNvPr>
          <p:cNvSpPr>
            <a:spLocks noGrp="1"/>
          </p:cNvSpPr>
          <p:nvPr>
            <p:ph type="title"/>
          </p:nvPr>
        </p:nvSpPr>
        <p:spPr/>
        <p:txBody>
          <a:bodyPr>
            <a:normAutofit/>
          </a:bodyPr>
          <a:lstStyle/>
          <a:p>
            <a:pPr algn="ctr"/>
            <a:r>
              <a:rPr lang="en-US" sz="4400" b="1" dirty="0">
                <a:solidFill>
                  <a:srgbClr val="FF0000"/>
                </a:solidFill>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6463A0A8-25AE-E176-1C71-EB5A02D7EDE7}"/>
              </a:ext>
            </a:extLst>
          </p:cNvPr>
          <p:cNvSpPr>
            <a:spLocks noGrp="1"/>
          </p:cNvSpPr>
          <p:nvPr>
            <p:ph idx="1"/>
          </p:nvPr>
        </p:nvSpPr>
        <p:spPr>
          <a:xfrm>
            <a:off x="1942415" y="1905000"/>
            <a:ext cx="6591985" cy="4654296"/>
          </a:xfrm>
        </p:spPr>
        <p:txBody>
          <a:bodyPr>
            <a:normAutofit fontScale="92500" lnSpcReduction="20000"/>
          </a:bodyPr>
          <a:lstStyle/>
          <a:p>
            <a:r>
              <a:rPr lang="en-US" sz="3200" dirty="0" smtClean="0">
                <a:latin typeface="Times New Roman" panose="02020603050405020304" pitchFamily="18" charset="0"/>
                <a:cs typeface="Times New Roman" panose="02020603050405020304" pitchFamily="18" charset="0"/>
              </a:rPr>
              <a:t>Abstract</a:t>
            </a:r>
          </a:p>
          <a:p>
            <a:r>
              <a:rPr lang="en-US" sz="3200" dirty="0" smtClean="0">
                <a:latin typeface="Times New Roman" panose="02020603050405020304" pitchFamily="18" charset="0"/>
                <a:cs typeface="Times New Roman" panose="02020603050405020304" pitchFamily="18" charset="0"/>
              </a:rPr>
              <a:t>Problem </a:t>
            </a:r>
            <a:r>
              <a:rPr lang="en-US" sz="3200" dirty="0" smtClean="0">
                <a:latin typeface="Times New Roman" panose="02020603050405020304" pitchFamily="18" charset="0"/>
                <a:cs typeface="Times New Roman" panose="02020603050405020304" pitchFamily="18" charset="0"/>
              </a:rPr>
              <a:t>S</a:t>
            </a:r>
            <a:r>
              <a:rPr lang="en-US" sz="3200" dirty="0" smtClean="0">
                <a:latin typeface="Times New Roman" panose="02020603050405020304" pitchFamily="18" charset="0"/>
                <a:cs typeface="Times New Roman" panose="02020603050405020304" pitchFamily="18" charset="0"/>
              </a:rPr>
              <a:t>tatement</a:t>
            </a:r>
          </a:p>
          <a:p>
            <a:r>
              <a:rPr lang="en-US" sz="3200" dirty="0" smtClean="0">
                <a:latin typeface="Times New Roman" panose="02020603050405020304" pitchFamily="18" charset="0"/>
                <a:cs typeface="Times New Roman" panose="02020603050405020304" pitchFamily="18" charset="0"/>
              </a:rPr>
              <a:t>Literature Review</a:t>
            </a:r>
            <a:endParaRPr lang="en-US" sz="3200" dirty="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Domain </a:t>
            </a:r>
            <a:r>
              <a:rPr lang="en-US" sz="3200" dirty="0" smtClean="0">
                <a:latin typeface="Times New Roman" panose="02020603050405020304" pitchFamily="18" charset="0"/>
                <a:cs typeface="Times New Roman" panose="02020603050405020304" pitchFamily="18" charset="0"/>
              </a:rPr>
              <a:t>Knowledge</a:t>
            </a:r>
          </a:p>
          <a:p>
            <a:r>
              <a:rPr lang="en-US" sz="3200" dirty="0" smtClean="0">
                <a:latin typeface="Times New Roman" panose="02020603050405020304" pitchFamily="18" charset="0"/>
                <a:cs typeface="Times New Roman" panose="02020603050405020304" pitchFamily="18" charset="0"/>
              </a:rPr>
              <a:t>Architecture and Methodo</a:t>
            </a:r>
            <a:r>
              <a:rPr lang="en-US" sz="3200" dirty="0" smtClean="0">
                <a:latin typeface="Times New Roman" panose="02020603050405020304" pitchFamily="18" charset="0"/>
                <a:cs typeface="Times New Roman" panose="02020603050405020304" pitchFamily="18" charset="0"/>
              </a:rPr>
              <a:t>logy</a:t>
            </a:r>
            <a:endParaRPr lang="en-US" sz="3200" dirty="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Implementation</a:t>
            </a:r>
          </a:p>
          <a:p>
            <a:r>
              <a:rPr lang="en-US" sz="3200" dirty="0" smtClean="0">
                <a:latin typeface="Times New Roman" panose="02020603050405020304" pitchFamily="18" charset="0"/>
                <a:cs typeface="Times New Roman" panose="02020603050405020304" pitchFamily="18" charset="0"/>
              </a:rPr>
              <a:t>Result</a:t>
            </a:r>
          </a:p>
          <a:p>
            <a:r>
              <a:rPr lang="en-US" sz="3200" dirty="0" smtClean="0">
                <a:latin typeface="Times New Roman" panose="02020603050405020304" pitchFamily="18" charset="0"/>
                <a:cs typeface="Times New Roman" panose="02020603050405020304" pitchFamily="18" charset="0"/>
              </a:rPr>
              <a:t>Conclusion</a:t>
            </a:r>
          </a:p>
          <a:p>
            <a:r>
              <a:rPr lang="en-US" sz="3200" dirty="0" smtClean="0">
                <a:latin typeface="Times New Roman" panose="02020603050405020304" pitchFamily="18" charset="0"/>
                <a:cs typeface="Times New Roman" panose="02020603050405020304" pitchFamily="18" charset="0"/>
              </a:rPr>
              <a:t>Future Scope</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086909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anose="02020603050405020304" pitchFamily="18" charset="0"/>
                <a:cs typeface="Times New Roman" panose="02020603050405020304" pitchFamily="18" charset="0"/>
              </a:rPr>
              <a:t>                  Abstract:</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50976" y="1524000"/>
            <a:ext cx="7985759" cy="4387222"/>
          </a:xfrm>
        </p:spPr>
        <p:txBody>
          <a:bodyPr>
            <a:noAutofit/>
          </a:bodyPr>
          <a:lstStyle/>
          <a:p>
            <a:pPr algn="just"/>
            <a:r>
              <a:rPr lang="en-US" sz="1400" dirty="0" smtClean="0">
                <a:latin typeface="Times New Roman" panose="02020603050405020304" pitchFamily="18" charset="0"/>
                <a:cs typeface="Times New Roman" panose="02020603050405020304" pitchFamily="18" charset="0"/>
              </a:rPr>
              <a:t>              In </a:t>
            </a:r>
            <a:r>
              <a:rPr lang="en-US" sz="1400" dirty="0">
                <a:latin typeface="Times New Roman" panose="02020603050405020304" pitchFamily="18" charset="0"/>
                <a:cs typeface="Times New Roman" panose="02020603050405020304" pitchFamily="18" charset="0"/>
              </a:rPr>
              <a:t>recent years, maintaining a balanced diet and monitoring calorie intake has become increasingly important for a healthy lifestyle. However, traditional calorie tracking methods require manual input and are often time-consuming and inaccurate. To overcome these challenges, this project presents an AI-Based Food Calorie Estimation System using the Gemini </a:t>
            </a:r>
            <a:r>
              <a:rPr lang="en-US" sz="1400" dirty="0" err="1">
                <a:latin typeface="Times New Roman" panose="02020603050405020304" pitchFamily="18" charset="0"/>
                <a:cs typeface="Times New Roman" panose="02020603050405020304" pitchFamily="18" charset="0"/>
              </a:rPr>
              <a:t>API.The</a:t>
            </a:r>
            <a:r>
              <a:rPr lang="en-US" sz="1400" dirty="0">
                <a:latin typeface="Times New Roman" panose="02020603050405020304" pitchFamily="18" charset="0"/>
                <a:cs typeface="Times New Roman" panose="02020603050405020304" pitchFamily="18" charset="0"/>
              </a:rPr>
              <a:t> proposed system allows users to upload an image of food, which is then processed using the Gemini API for intelligent analysis. Instead of relying on locally trained machine learning models, the system leverages the capabilities of a large multimodal AI model to identify food items and estimate their calorie content. The API interprets the visual input, recognizes the type of food, and provides an approximate calorie value based on its understanding of nutritional information. The system is implemented using a web-based interface built with Flask, where users can easily upload images and receive instant results. Image preprocessing techniques are applied before sending data to the API to improve accuracy. The use of the Gemini API simplifies the development process by eliminating the need for complex model training while still achieving reliable predictions. This approach provides a fast, efficient, and user-friendly solution for calorie estimation. The system can be further enhanced by integrating real-time image capture, personalized diet v recommendations, and mobile application support, making it a practical tool for everyday health monitoring</a:t>
            </a:r>
            <a:r>
              <a:rPr lang="en-US" sz="1400" dirty="0" smtClean="0">
                <a:latin typeface="Times New Roman" panose="02020603050405020304" pitchFamily="18" charset="0"/>
                <a:cs typeface="Times New Roman" panose="02020603050405020304" pitchFamily="18" charset="0"/>
              </a:rPr>
              <a:t>.</a:t>
            </a:r>
          </a:p>
          <a:p>
            <a:pPr algn="just"/>
            <a:r>
              <a:rPr lang="en-US" sz="1400" dirty="0" smtClean="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Keywords: </a:t>
            </a:r>
            <a:r>
              <a:rPr lang="en-US" sz="1400" dirty="0">
                <a:latin typeface="Times New Roman" panose="02020603050405020304" pitchFamily="18" charset="0"/>
                <a:cs typeface="Times New Roman" panose="02020603050405020304" pitchFamily="18" charset="0"/>
              </a:rPr>
              <a:t>Artificial Intelligence, Gemini API, Food Recognition, Calorie Estimation, Image Analysis, Multimodal AI, Flask, Web Application, Nutritional Analysis, Image Processing</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2394853"/>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anose="02020603050405020304" pitchFamily="18" charset="0"/>
                <a:cs typeface="Times New Roman" panose="02020603050405020304" pitchFamily="18" charset="0"/>
              </a:rPr>
              <a:t>            Problem Statement </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21665" y="1633728"/>
            <a:ext cx="7412736" cy="4277494"/>
          </a:xfrm>
        </p:spPr>
        <p:txBody>
          <a:bodyPr>
            <a:noAutofit/>
          </a:bodyPr>
          <a:lstStyle/>
          <a:p>
            <a:pPr algn="just"/>
            <a:r>
              <a:rPr lang="en-US" dirty="0" smtClean="0">
                <a:latin typeface="Times New Roman" panose="02020603050405020304" pitchFamily="18" charset="0"/>
                <a:cs typeface="Times New Roman" panose="02020603050405020304" pitchFamily="18" charset="0"/>
              </a:rPr>
              <a:t>           Traditional </a:t>
            </a:r>
            <a:r>
              <a:rPr lang="en-US" dirty="0">
                <a:latin typeface="Times New Roman" panose="02020603050405020304" pitchFamily="18" charset="0"/>
                <a:cs typeface="Times New Roman" panose="02020603050405020304" pitchFamily="18" charset="0"/>
              </a:rPr>
              <a:t>nutrition tracking depends on manual food logging and calorie estimation, which is often inaccurate and inconvenient. Users struggle with entering food items into databases or relying on generic diet charts, leading to inconsistent tracking and poor long-term adherence. Existing applications rarely provide intelligent analysis of food images or </a:t>
            </a:r>
            <a:r>
              <a:rPr lang="en-US" dirty="0" smtClean="0">
                <a:latin typeface="Times New Roman" panose="02020603050405020304" pitchFamily="18" charset="0"/>
                <a:cs typeface="Times New Roman" panose="02020603050405020304" pitchFamily="18" charset="0"/>
              </a:rPr>
              <a:t>personalized </a:t>
            </a:r>
            <a:r>
              <a:rPr lang="en-US" dirty="0">
                <a:latin typeface="Times New Roman" panose="02020603050405020304" pitchFamily="18" charset="0"/>
                <a:cs typeface="Times New Roman" panose="02020603050405020304" pitchFamily="18" charset="0"/>
              </a:rPr>
              <a:t>health insights. They rely on keyword searches or templates that ignore portion size, dietary preferences, and fitness goals, making calorie counts and recommendations less reliable. To overcome these challenges, an AI-powered nutrition platform is needed. By analyzing food images, estimating nutritional values, and generating personalized health metrics such as BMI, water intake, and protein requirements, the system can reduce manual effort, improve accuracy, and help individuals achieve their dietary and fitness goals effectively.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552248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anose="02020603050405020304" pitchFamily="18" charset="0"/>
                <a:cs typeface="Times New Roman" panose="02020603050405020304" pitchFamily="18" charset="0"/>
              </a:rPr>
              <a:t>             Literature Review</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Conventional nutrition tracking relies on manual food logging, which is tedious and often inaccurate. With advancements in Artificial Intelligence and Machine Learning, </a:t>
            </a:r>
            <a:r>
              <a:rPr lang="en-US" dirty="0" err="1">
                <a:latin typeface="Times New Roman" panose="02020603050405020304" pitchFamily="18" charset="0"/>
                <a:cs typeface="Times New Roman" panose="02020603050405020304" pitchFamily="18" charset="0"/>
              </a:rPr>
              <a:t>visionbased</a:t>
            </a:r>
            <a:r>
              <a:rPr lang="en-US" dirty="0">
                <a:latin typeface="Times New Roman" panose="02020603050405020304" pitchFamily="18" charset="0"/>
                <a:cs typeface="Times New Roman" panose="02020603050405020304" pitchFamily="18" charset="0"/>
              </a:rPr>
              <a:t> models now enable calorie estimation directly from food images, reducing human effort and improving accuracy. Research also shows that integrating health metrics like BMI and protein requirements with interactive dashboards enhances user engagement. Building on these developments, this project applies AI-powered food analysis and personalized recommendations to create a practical, user-friendly nutrition management system.</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1232109"/>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6B14F-9972-9D19-0A48-6F270F19CEE4}"/>
              </a:ext>
            </a:extLst>
          </p:cNvPr>
          <p:cNvSpPr>
            <a:spLocks noGrp="1"/>
          </p:cNvSpPr>
          <p:nvPr>
            <p:ph type="title"/>
          </p:nvPr>
        </p:nvSpPr>
        <p:spPr>
          <a:xfrm>
            <a:off x="2035009" y="158746"/>
            <a:ext cx="6589199" cy="1280890"/>
          </a:xfrm>
        </p:spPr>
        <p:txBody>
          <a:bodyPr>
            <a:normAutofit/>
          </a:bodyPr>
          <a:lstStyle/>
          <a:p>
            <a:pPr algn="ctr"/>
            <a:r>
              <a:rPr lang="en-US" sz="4800" dirty="0" smtClean="0">
                <a:solidFill>
                  <a:srgbClr val="FF0000"/>
                </a:solidFill>
                <a:latin typeface="Times New Roman" panose="02020603050405020304" pitchFamily="18" charset="0"/>
                <a:cs typeface="Times New Roman" panose="02020603050405020304" pitchFamily="18" charset="0"/>
              </a:rPr>
              <a:t>Domain Knowledge</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1BE6DF6-72E4-E49D-E9BE-2B28BF7A70F3}"/>
              </a:ext>
            </a:extLst>
          </p:cNvPr>
          <p:cNvSpPr>
            <a:spLocks noGrp="1"/>
          </p:cNvSpPr>
          <p:nvPr>
            <p:ph idx="1"/>
          </p:nvPr>
        </p:nvSpPr>
        <p:spPr>
          <a:xfrm>
            <a:off x="1942415" y="1251857"/>
            <a:ext cx="6591985" cy="3777622"/>
          </a:xfrm>
        </p:spPr>
        <p:txBody>
          <a:bodyPr>
            <a:noAutofit/>
          </a:bodyPr>
          <a:lstStyle/>
          <a:p>
            <a:pPr marL="0" indent="0" algn="just">
              <a:buNone/>
            </a:pPr>
            <a:r>
              <a:rPr lang="en-US" sz="1600" dirty="0" smtClean="0">
                <a:latin typeface="Times New Roman" panose="02020603050405020304" pitchFamily="18" charset="0"/>
                <a:cs typeface="Times New Roman" panose="02020603050405020304" pitchFamily="18" charset="0"/>
              </a:rPr>
              <a:t>Primary </a:t>
            </a:r>
            <a:r>
              <a:rPr lang="en-US" sz="1600" dirty="0">
                <a:latin typeface="Times New Roman" panose="02020603050405020304" pitchFamily="18" charset="0"/>
                <a:cs typeface="Times New Roman" panose="02020603050405020304" pitchFamily="18" charset="0"/>
              </a:rPr>
              <a:t>Domain:</a:t>
            </a:r>
          </a:p>
          <a:p>
            <a:pPr marL="0" indent="0" algn="just">
              <a:buNone/>
            </a:pPr>
            <a:r>
              <a:rPr lang="en-US" sz="1600" dirty="0" smtClean="0">
                <a:latin typeface="Times New Roman" panose="02020603050405020304" pitchFamily="18" charset="0"/>
                <a:cs typeface="Times New Roman" panose="02020603050405020304" pitchFamily="18" charset="0"/>
              </a:rPr>
              <a:t>	Data </a:t>
            </a:r>
            <a:r>
              <a:rPr lang="en-US" sz="1600" dirty="0">
                <a:latin typeface="Times New Roman" panose="02020603050405020304" pitchFamily="18" charset="0"/>
                <a:cs typeface="Times New Roman" panose="02020603050405020304" pitchFamily="18" charset="0"/>
              </a:rPr>
              <a:t>Science – The project analyzes food image data and predicts calorie values using trained models and nutritional databases</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Supporting Domains:</a:t>
            </a:r>
          </a:p>
          <a:p>
            <a:pPr marL="0" indent="0" algn="just">
              <a:buNone/>
            </a:pPr>
            <a:r>
              <a:rPr lang="en-US" sz="1600" dirty="0" smtClean="0">
                <a:latin typeface="Times New Roman" panose="02020603050405020304" pitchFamily="18" charset="0"/>
                <a:cs typeface="Times New Roman" panose="02020603050405020304" pitchFamily="18" charset="0"/>
              </a:rPr>
              <a:t>  • Artificial </a:t>
            </a:r>
            <a:r>
              <a:rPr lang="en-US" sz="1600" dirty="0">
                <a:latin typeface="Times New Roman" panose="02020603050405020304" pitchFamily="18" charset="0"/>
                <a:cs typeface="Times New Roman" panose="02020603050405020304" pitchFamily="18" charset="0"/>
              </a:rPr>
              <a:t>Intelligence (AI) – Enables automated food recognition and calorie estimation.</a:t>
            </a:r>
          </a:p>
          <a:p>
            <a:pPr marL="0" indent="0" algn="just">
              <a:buNone/>
            </a:pPr>
            <a:r>
              <a:rPr lang="en-US" sz="1600" dirty="0" smtClean="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Computer Vision – Extracts visual features like color, shape, and texture from images.</a:t>
            </a:r>
          </a:p>
          <a:p>
            <a:pPr marL="0" indent="0" algn="just">
              <a:buNone/>
            </a:pPr>
            <a:r>
              <a:rPr lang="en-US" sz="1600" dirty="0" smtClean="0">
                <a:latin typeface="Times New Roman" panose="02020603050405020304" pitchFamily="18" charset="0"/>
                <a:cs typeface="Times New Roman" panose="02020603050405020304" pitchFamily="18" charset="0"/>
              </a:rPr>
              <a:t>  • </a:t>
            </a:r>
            <a:r>
              <a:rPr lang="en-US" sz="1600" dirty="0">
                <a:latin typeface="Times New Roman" panose="02020603050405020304" pitchFamily="18" charset="0"/>
                <a:cs typeface="Times New Roman" panose="02020603050405020304" pitchFamily="18" charset="0"/>
              </a:rPr>
              <a:t>Image Processing – Includes preprocessing steps such as resizing, normalization, and augmentation</a:t>
            </a:r>
            <a:r>
              <a:rPr lang="en-US" sz="1600" dirty="0" smtClean="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Application Area:</a:t>
            </a:r>
          </a:p>
          <a:p>
            <a:pPr marL="0" indent="0" algn="just">
              <a:buNone/>
            </a:pPr>
            <a:r>
              <a:rPr lang="en-US" sz="1600" dirty="0" smtClean="0">
                <a:latin typeface="Times New Roman" panose="02020603050405020304" pitchFamily="18" charset="0"/>
                <a:cs typeface="Times New Roman" panose="02020603050405020304" pitchFamily="18" charset="0"/>
              </a:rPr>
              <a:t>	Healthcare &amp; </a:t>
            </a:r>
            <a:r>
              <a:rPr lang="en-US" sz="1600" dirty="0">
                <a:latin typeface="Times New Roman" panose="02020603050405020304" pitchFamily="18" charset="0"/>
                <a:cs typeface="Times New Roman" panose="02020603050405020304" pitchFamily="18" charset="0"/>
              </a:rPr>
              <a:t>Nutrition Monitoring – Assists users in maintaining healthy dietary habits.</a:t>
            </a:r>
          </a:p>
        </p:txBody>
      </p:sp>
    </p:spTree>
    <p:extLst>
      <p:ext uri="{BB962C8B-B14F-4D97-AF65-F5344CB8AC3E}">
        <p14:creationId xmlns:p14="http://schemas.microsoft.com/office/powerpoint/2010/main" val="36915275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latin typeface="Times New Roman" panose="02020603050405020304" pitchFamily="18" charset="0"/>
                <a:cs typeface="Times New Roman" panose="02020603050405020304" pitchFamily="18" charset="0"/>
              </a:rPr>
              <a:t>System Architecture:</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6500" y="1447800"/>
            <a:ext cx="4358640" cy="5250180"/>
          </a:xfrm>
          <a:prstGeom prst="rect">
            <a:avLst/>
          </a:prstGeom>
        </p:spPr>
      </p:pic>
    </p:spTree>
    <p:extLst>
      <p:ext uri="{BB962C8B-B14F-4D97-AF65-F5344CB8AC3E}">
        <p14:creationId xmlns:p14="http://schemas.microsoft.com/office/powerpoint/2010/main" val="388847527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anose="02020603050405020304" pitchFamily="18" charset="0"/>
                <a:cs typeface="Times New Roman" panose="02020603050405020304" pitchFamily="18" charset="0"/>
              </a:rPr>
              <a:t>           System Architecture</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90797" y="2133600"/>
            <a:ext cx="4495906" cy="3778250"/>
          </a:xfrm>
        </p:spPr>
      </p:pic>
    </p:spTree>
    <p:extLst>
      <p:ext uri="{BB962C8B-B14F-4D97-AF65-F5344CB8AC3E}">
        <p14:creationId xmlns:p14="http://schemas.microsoft.com/office/powerpoint/2010/main" val="383055922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b="1" dirty="0" smtClean="0">
                <a:solidFill>
                  <a:srgbClr val="FF0000"/>
                </a:solidFill>
                <a:latin typeface="Times New Roman" panose="02020603050405020304" pitchFamily="18" charset="0"/>
                <a:cs typeface="Times New Roman" panose="02020603050405020304" pitchFamily="18" charset="0"/>
              </a:rPr>
              <a:t>Methodology</a:t>
            </a:r>
            <a:endParaRPr sz="4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942415" y="1627415"/>
            <a:ext cx="6591985" cy="3777622"/>
          </a:xfrm>
        </p:spPr>
        <p:txBody>
          <a:bodyPr>
            <a:noAutofit/>
          </a:bodyPr>
          <a:lstStyle/>
          <a:p>
            <a:pPr algn="just">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1.Image </a:t>
            </a:r>
            <a:r>
              <a:rPr lang="en-US" sz="1600" b="1" dirty="0" err="1" smtClean="0">
                <a:latin typeface="Times New Roman" panose="02020603050405020304" pitchFamily="18" charset="0"/>
                <a:cs typeface="Times New Roman" panose="02020603050405020304" pitchFamily="18" charset="0"/>
              </a:rPr>
              <a:t>Acquisition:</a:t>
            </a:r>
            <a:r>
              <a:rPr lang="en-US" sz="1600" dirty="0" err="1" smtClean="0">
                <a:latin typeface="Times New Roman" panose="02020603050405020304" pitchFamily="18" charset="0"/>
                <a:cs typeface="Times New Roman" panose="02020603050405020304" pitchFamily="18" charset="0"/>
              </a:rPr>
              <a:t>User</a:t>
            </a:r>
            <a:r>
              <a:rPr lang="en-US" sz="1600" b="1"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captures or uploads a food image using the </a:t>
            </a:r>
            <a:r>
              <a:rPr lang="en-US" sz="1600" dirty="0" smtClean="0">
                <a:latin typeface="Times New Roman" panose="02020603050405020304" pitchFamily="18" charset="0"/>
                <a:cs typeface="Times New Roman" panose="02020603050405020304" pitchFamily="18" charset="0"/>
              </a:rPr>
              <a:t>application.</a:t>
            </a:r>
          </a:p>
          <a:p>
            <a:pPr algn="just">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2.ImagePreprocessing: </a:t>
            </a:r>
            <a:r>
              <a:rPr lang="en-US" sz="1600" dirty="0">
                <a:latin typeface="Times New Roman" panose="02020603050405020304" pitchFamily="18" charset="0"/>
                <a:cs typeface="Times New Roman" panose="02020603050405020304" pitchFamily="18" charset="0"/>
              </a:rPr>
              <a:t>Resizing to fixed </a:t>
            </a:r>
            <a:r>
              <a:rPr lang="en-US" sz="1600" dirty="0" smtClean="0">
                <a:latin typeface="Times New Roman" panose="02020603050405020304" pitchFamily="18" charset="0"/>
                <a:cs typeface="Times New Roman" panose="02020603050405020304" pitchFamily="18" charset="0"/>
              </a:rPr>
              <a:t>dimensions. </a:t>
            </a:r>
            <a:r>
              <a:rPr lang="en-US" sz="1600" dirty="0">
                <a:latin typeface="Times New Roman" panose="02020603050405020304" pitchFamily="18" charset="0"/>
                <a:cs typeface="Times New Roman" panose="02020603050405020304" pitchFamily="18" charset="0"/>
              </a:rPr>
              <a:t>Normalization of pixel </a:t>
            </a:r>
            <a:r>
              <a:rPr lang="en-US" sz="1600" dirty="0" smtClean="0">
                <a:latin typeface="Times New Roman" panose="02020603050405020304" pitchFamily="18" charset="0"/>
                <a:cs typeface="Times New Roman" panose="02020603050405020304" pitchFamily="18" charset="0"/>
              </a:rPr>
              <a:t>values. </a:t>
            </a:r>
            <a:r>
              <a:rPr lang="en-US" sz="1600" dirty="0">
                <a:latin typeface="Times New Roman" panose="02020603050405020304" pitchFamily="18" charset="0"/>
                <a:cs typeface="Times New Roman" panose="02020603050405020304" pitchFamily="18" charset="0"/>
              </a:rPr>
              <a:t>Data augmentation (rotation, flipping, brightness adjustment</a:t>
            </a:r>
            <a:r>
              <a:rPr lang="en-US" sz="1600" dirty="0" smtClean="0">
                <a:latin typeface="Times New Roman" panose="02020603050405020304" pitchFamily="18" charset="0"/>
                <a:cs typeface="Times New Roman" panose="02020603050405020304" pitchFamily="18" charset="0"/>
              </a:rPr>
              <a:t>).This </a:t>
            </a:r>
            <a:r>
              <a:rPr lang="en-US" sz="1600" dirty="0">
                <a:latin typeface="Times New Roman" panose="02020603050405020304" pitchFamily="18" charset="0"/>
                <a:cs typeface="Times New Roman" panose="02020603050405020304" pitchFamily="18" charset="0"/>
              </a:rPr>
              <a:t>improves model robustness under different lighting and angles</a:t>
            </a:r>
            <a:r>
              <a:rPr lang="en-US" sz="1600" dirty="0" smtClean="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3.Gemini Vision Model Innovation:</a:t>
            </a:r>
          </a:p>
          <a:p>
            <a:pPr marL="0" indent="0" algn="just">
              <a:buNone/>
            </a:pPr>
            <a:r>
              <a:rPr lang="en-US" sz="1600" dirty="0" smtClean="0">
                <a:latin typeface="Times New Roman" panose="02020603050405020304" pitchFamily="18" charset="0"/>
                <a:cs typeface="Times New Roman" panose="02020603050405020304" pitchFamily="18" charset="0"/>
              </a:rPr>
              <a:t>	Gemini 2.0 flash or </a:t>
            </a:r>
            <a:r>
              <a:rPr lang="en-US" sz="1600" dirty="0">
                <a:latin typeface="Times New Roman" panose="02020603050405020304" pitchFamily="18" charset="0"/>
                <a:cs typeface="Times New Roman" panose="02020603050405020304" pitchFamily="18" charset="0"/>
              </a:rPr>
              <a:t>G</a:t>
            </a:r>
            <a:r>
              <a:rPr lang="en-US" sz="1600" dirty="0" smtClean="0">
                <a:latin typeface="Times New Roman" panose="02020603050405020304" pitchFamily="18" charset="0"/>
                <a:cs typeface="Times New Roman" panose="02020603050405020304" pitchFamily="18" charset="0"/>
              </a:rPr>
              <a:t>emini pro vision is called via Open API.</a:t>
            </a:r>
          </a:p>
          <a:p>
            <a:pPr marL="0" indent="0" algn="just">
              <a:buNone/>
            </a:pPr>
            <a:r>
              <a:rPr lang="en-US" sz="1600" dirty="0" smtClean="0">
                <a:latin typeface="Times New Roman" panose="02020603050405020304" pitchFamily="18" charset="0"/>
                <a:cs typeface="Times New Roman" panose="02020603050405020304" pitchFamily="18" charset="0"/>
              </a:rPr>
              <a:t>	The model analyzes the image and returns structured insights.</a:t>
            </a:r>
          </a:p>
          <a:p>
            <a:pPr algn="just">
              <a:buFont typeface="Wingdings" panose="05000000000000000000" pitchFamily="2" charset="2"/>
              <a:buChar char="ü"/>
            </a:pPr>
            <a:r>
              <a:rPr lang="en-US" sz="1600" b="1" dirty="0" smtClean="0">
                <a:latin typeface="Times New Roman" panose="02020603050405020304" pitchFamily="18" charset="0"/>
                <a:cs typeface="Times New Roman" panose="02020603050405020304" pitchFamily="18" charset="0"/>
              </a:rPr>
              <a:t>4</a:t>
            </a:r>
            <a:r>
              <a:rPr lang="en-US" sz="1600" b="1" dirty="0">
                <a:latin typeface="Times New Roman" panose="02020603050405020304" pitchFamily="18" charset="0"/>
                <a:cs typeface="Times New Roman" panose="02020603050405020304" pitchFamily="18" charset="0"/>
              </a:rPr>
              <a:t>. Food </a:t>
            </a:r>
            <a:r>
              <a:rPr lang="en-US" sz="1600" b="1" dirty="0" smtClean="0">
                <a:latin typeface="Times New Roman" panose="02020603050405020304" pitchFamily="18" charset="0"/>
                <a:cs typeface="Times New Roman" panose="02020603050405020304" pitchFamily="18" charset="0"/>
              </a:rPr>
              <a:t>Classification : </a:t>
            </a:r>
            <a:r>
              <a:rPr lang="en-US" sz="1600" dirty="0" smtClean="0">
                <a:latin typeface="Times New Roman" panose="02020603050405020304" pitchFamily="18" charset="0"/>
                <a:cs typeface="Times New Roman" panose="02020603050405020304" pitchFamily="18" charset="0"/>
              </a:rPr>
              <a:t>The</a:t>
            </a:r>
            <a:r>
              <a:rPr lang="en-US" sz="1600" b="1" dirty="0" smtClean="0">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trained </a:t>
            </a:r>
            <a:r>
              <a:rPr lang="en-US" sz="1600" smtClean="0">
                <a:latin typeface="Times New Roman" panose="02020603050405020304" pitchFamily="18" charset="0"/>
                <a:cs typeface="Times New Roman" panose="02020603050405020304" pitchFamily="18" charset="0"/>
              </a:rPr>
              <a:t>learning </a:t>
            </a:r>
            <a:r>
              <a:rPr lang="en-US" sz="1600" dirty="0">
                <a:latin typeface="Times New Roman" panose="02020603050405020304" pitchFamily="18" charset="0"/>
                <a:cs typeface="Times New Roman" panose="02020603050405020304" pitchFamily="18" charset="0"/>
              </a:rPr>
              <a:t>model classifies the image into a specific food category</a:t>
            </a:r>
            <a:endParaRPr sz="16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b="1" dirty="0" smtClean="0">
                <a:solidFill>
                  <a:srgbClr val="FF0000"/>
                </a:solidFill>
                <a:latin typeface="Times New Roman" panose="02020603050405020304" pitchFamily="18" charset="0"/>
                <a:cs typeface="Times New Roman" panose="02020603050405020304" pitchFamily="18" charset="0"/>
              </a:rPr>
              <a:t>Methodology</a:t>
            </a:r>
            <a:endParaRPr sz="4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40337" y="1815193"/>
            <a:ext cx="6591985" cy="3777622"/>
          </a:xfrm>
        </p:spPr>
        <p:txBody>
          <a:bodyPr>
            <a:noAutofit/>
          </a:bodyPr>
          <a:lstStyle/>
          <a:p>
            <a:pPr marL="324000" algn="just">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5.Nutritional </a:t>
            </a:r>
            <a:r>
              <a:rPr lang="en-US" b="1" dirty="0">
                <a:latin typeface="Times New Roman" panose="02020603050405020304" pitchFamily="18" charset="0"/>
                <a:cs typeface="Times New Roman" panose="02020603050405020304" pitchFamily="18" charset="0"/>
              </a:rPr>
              <a:t>Database </a:t>
            </a:r>
            <a:r>
              <a:rPr lang="en-US" b="1" dirty="0" smtClean="0">
                <a:latin typeface="Times New Roman" panose="02020603050405020304" pitchFamily="18" charset="0"/>
                <a:cs typeface="Times New Roman" panose="02020603050405020304" pitchFamily="18" charset="0"/>
              </a:rPr>
              <a:t>Mapping </a:t>
            </a: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predicted food category is mapped to a nutritional database containing calorie values of various food items</a:t>
            </a:r>
            <a:r>
              <a:rPr lang="en-US" dirty="0" smtClean="0">
                <a:latin typeface="Times New Roman" panose="02020603050405020304" pitchFamily="18" charset="0"/>
                <a:cs typeface="Times New Roman" panose="02020603050405020304" pitchFamily="18" charset="0"/>
              </a:rPr>
              <a:t>.</a:t>
            </a:r>
          </a:p>
          <a:p>
            <a:pPr marL="324000" algn="just">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6</a:t>
            </a:r>
            <a:r>
              <a:rPr lang="en-US" b="1" dirty="0">
                <a:latin typeface="Times New Roman" panose="02020603050405020304" pitchFamily="18" charset="0"/>
                <a:cs typeface="Times New Roman" panose="02020603050405020304" pitchFamily="18" charset="0"/>
              </a:rPr>
              <a:t>. Portion Estimation </a:t>
            </a:r>
            <a:r>
              <a:rPr lang="en-US" b="1"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The system </a:t>
            </a:r>
            <a:r>
              <a:rPr lang="en-US" dirty="0">
                <a:latin typeface="Times New Roman" panose="02020603050405020304" pitchFamily="18" charset="0"/>
                <a:cs typeface="Times New Roman" panose="02020603050405020304" pitchFamily="18" charset="0"/>
              </a:rPr>
              <a:t>estimates portion size to improve calorie accuracy</a:t>
            </a:r>
            <a:r>
              <a:rPr lang="en-US" dirty="0" smtClean="0">
                <a:latin typeface="Times New Roman" panose="02020603050405020304" pitchFamily="18" charset="0"/>
                <a:cs typeface="Times New Roman" panose="02020603050405020304" pitchFamily="18" charset="0"/>
              </a:rPr>
              <a:t>.</a:t>
            </a:r>
          </a:p>
          <a:p>
            <a:pPr marL="324000" algn="just">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7</a:t>
            </a:r>
            <a:r>
              <a:rPr lang="en-US" b="1" dirty="0">
                <a:latin typeface="Times New Roman" panose="02020603050405020304" pitchFamily="18" charset="0"/>
                <a:cs typeface="Times New Roman" panose="02020603050405020304" pitchFamily="18" charset="0"/>
              </a:rPr>
              <a:t>. Calorie </a:t>
            </a:r>
            <a:r>
              <a:rPr lang="en-US" b="1" dirty="0" smtClean="0">
                <a:latin typeface="Times New Roman" panose="02020603050405020304" pitchFamily="18" charset="0"/>
                <a:cs typeface="Times New Roman" panose="02020603050405020304" pitchFamily="18" charset="0"/>
              </a:rPr>
              <a:t>Calculation : </a:t>
            </a:r>
            <a:r>
              <a:rPr lang="en-US" dirty="0" smtClean="0">
                <a:latin typeface="Times New Roman" panose="02020603050405020304" pitchFamily="18" charset="0"/>
                <a:cs typeface="Times New Roman" panose="02020603050405020304" pitchFamily="18" charset="0"/>
              </a:rPr>
              <a:t>Total </a:t>
            </a:r>
            <a:r>
              <a:rPr lang="en-US" dirty="0">
                <a:latin typeface="Times New Roman" panose="02020603050405020304" pitchFamily="18" charset="0"/>
                <a:cs typeface="Times New Roman" panose="02020603050405020304" pitchFamily="18" charset="0"/>
              </a:rPr>
              <a:t>calorie value is computed based on food type and portion size</a:t>
            </a:r>
            <a:r>
              <a:rPr lang="en-US" dirty="0" smtClean="0">
                <a:latin typeface="Times New Roman" panose="02020603050405020304" pitchFamily="18" charset="0"/>
                <a:cs typeface="Times New Roman" panose="02020603050405020304" pitchFamily="18" charset="0"/>
              </a:rPr>
              <a:t>.</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Estimated </a:t>
            </a:r>
            <a:r>
              <a:rPr lang="en-US" dirty="0">
                <a:latin typeface="Times New Roman" panose="02020603050405020304" pitchFamily="18" charset="0"/>
                <a:cs typeface="Times New Roman" panose="02020603050405020304" pitchFamily="18" charset="0"/>
              </a:rPr>
              <a:t>Weight = (Detected Volume in ml) × (Density of </a:t>
            </a:r>
            <a:r>
              <a:rPr lang="en-US" dirty="0" smtClean="0">
                <a:latin typeface="Times New Roman" panose="02020603050405020304" pitchFamily="18" charset="0"/>
                <a:cs typeface="Times New Roman" panose="02020603050405020304" pitchFamily="18" charset="0"/>
              </a:rPr>
              <a:t>	food </a:t>
            </a:r>
            <a:r>
              <a:rPr lang="en-US" dirty="0">
                <a:latin typeface="Times New Roman" panose="02020603050405020304" pitchFamily="18" charset="0"/>
                <a:cs typeface="Times New Roman" panose="02020603050405020304" pitchFamily="18" charset="0"/>
              </a:rPr>
              <a:t>in g/ml)</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Total </a:t>
            </a:r>
            <a:r>
              <a:rPr lang="en-US" dirty="0">
                <a:latin typeface="Times New Roman" panose="02020603050405020304" pitchFamily="18" charset="0"/>
                <a:cs typeface="Times New Roman" panose="02020603050405020304" pitchFamily="18" charset="0"/>
              </a:rPr>
              <a:t>Calories = (Calorie per 100g) × (Estimated Weight / </a:t>
            </a:r>
            <a:r>
              <a:rPr lang="en-US" dirty="0" smtClean="0">
                <a:latin typeface="Times New Roman" panose="02020603050405020304" pitchFamily="18" charset="0"/>
                <a:cs typeface="Times New Roman" panose="02020603050405020304" pitchFamily="18" charset="0"/>
              </a:rPr>
              <a:t>	100)</a:t>
            </a:r>
          </a:p>
          <a:p>
            <a:pPr marL="324000" algn="just">
              <a:buFont typeface="Wingdings" panose="05000000000000000000" pitchFamily="2" charset="2"/>
              <a:buChar char="ü"/>
            </a:pPr>
            <a:r>
              <a:rPr lang="en-US" b="1" dirty="0" smtClean="0">
                <a:latin typeface="Times New Roman" panose="02020603050405020304" pitchFamily="18" charset="0"/>
                <a:cs typeface="Times New Roman" panose="02020603050405020304" pitchFamily="18" charset="0"/>
              </a:rPr>
              <a:t>8</a:t>
            </a:r>
            <a:r>
              <a:rPr lang="en-US" b="1" dirty="0">
                <a:latin typeface="Times New Roman" panose="02020603050405020304" pitchFamily="18" charset="0"/>
                <a:cs typeface="Times New Roman" panose="02020603050405020304" pitchFamily="18" charset="0"/>
              </a:rPr>
              <a:t>. Result </a:t>
            </a:r>
            <a:r>
              <a:rPr lang="en-US" b="1" dirty="0" smtClean="0">
                <a:latin typeface="Times New Roman" panose="02020603050405020304" pitchFamily="18" charset="0"/>
                <a:cs typeface="Times New Roman" panose="02020603050405020304" pitchFamily="18" charset="0"/>
              </a:rPr>
              <a:t>Display :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final estimated calorie value is displayed through a user-friendly interface</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anose="02020603050405020304" pitchFamily="18" charset="0"/>
                <a:cs typeface="Times New Roman" panose="02020603050405020304" pitchFamily="18" charset="0"/>
              </a:rPr>
              <a:t>        System Requirements </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Hardware Requirements </a:t>
            </a:r>
            <a:r>
              <a:rPr lang="en-US" dirty="0" smtClean="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The </a:t>
            </a:r>
            <a:r>
              <a:rPr lang="en-US" dirty="0">
                <a:latin typeface="Times New Roman" panose="02020603050405020304" pitchFamily="18" charset="0"/>
                <a:cs typeface="Times New Roman" panose="02020603050405020304" pitchFamily="18" charset="0"/>
              </a:rPr>
              <a:t>hardware requirements for the proposed system are minimal, as most of the processing is handled by the Gemini API. The system can run on </a:t>
            </a:r>
            <a:r>
              <a:rPr lang="en-US" dirty="0" smtClean="0">
                <a:latin typeface="Times New Roman" panose="02020603050405020304" pitchFamily="18" charset="0"/>
                <a:cs typeface="Times New Roman" panose="02020603050405020304" pitchFamily="18" charset="0"/>
              </a:rPr>
              <a:t>standard </a:t>
            </a:r>
            <a:r>
              <a:rPr lang="en-US" dirty="0">
                <a:latin typeface="Times New Roman" panose="02020603050405020304" pitchFamily="18" charset="0"/>
                <a:cs typeface="Times New Roman" panose="02020603050405020304" pitchFamily="18" charset="0"/>
              </a:rPr>
              <a:t>computing devices without the need for high-end configurations</a:t>
            </a:r>
            <a:r>
              <a:rPr lang="en-US" dirty="0" smtClean="0">
                <a:latin typeface="Times New Roman" panose="02020603050405020304" pitchFamily="18" charset="0"/>
                <a:cs typeface="Times New Roman" panose="02020603050405020304" pitchFamily="18" charset="0"/>
              </a:rPr>
              <a:t>.</a:t>
            </a:r>
          </a:p>
          <a:p>
            <a:pPr marL="0" indent="0">
              <a:buNone/>
            </a:pP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Processor</a:t>
            </a:r>
            <a:r>
              <a:rPr lang="en-US" dirty="0">
                <a:latin typeface="Times New Roman" panose="02020603050405020304" pitchFamily="18" charset="0"/>
                <a:cs typeface="Times New Roman" panose="02020603050405020304" pitchFamily="18" charset="0"/>
              </a:rPr>
              <a:t>: Intel i3 or above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RAM</a:t>
            </a:r>
            <a:r>
              <a:rPr lang="en-US" dirty="0" smtClean="0">
                <a:latin typeface="Times New Roman" panose="02020603050405020304" pitchFamily="18" charset="0"/>
                <a:cs typeface="Times New Roman" panose="02020603050405020304" pitchFamily="18" charset="0"/>
              </a:rPr>
              <a:t>:4GBorhigher </a:t>
            </a:r>
          </a:p>
          <a:p>
            <a:pPr marL="0" indent="0">
              <a:buNone/>
            </a:pPr>
            <a:r>
              <a:rPr lang="en-US" b="1" dirty="0" smtClean="0">
                <a:latin typeface="Times New Roman" panose="02020603050405020304" pitchFamily="18" charset="0"/>
                <a:cs typeface="Times New Roman" panose="02020603050405020304" pitchFamily="18" charset="0"/>
              </a:rPr>
              <a:t>Storage</a:t>
            </a:r>
            <a:r>
              <a:rPr lang="en-US" dirty="0">
                <a:latin typeface="Times New Roman" panose="02020603050405020304" pitchFamily="18" charset="0"/>
                <a:cs typeface="Times New Roman" panose="02020603050405020304" pitchFamily="18" charset="0"/>
              </a:rPr>
              <a:t>: 256 GB HDD/SSD </a:t>
            </a: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Device</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Desktop/Laptop</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458755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47500" lnSpcReduction="20000"/>
          </a:bodyPr>
          <a:lstStyle/>
          <a:p>
            <a:r>
              <a:rPr lang="en-IN" dirty="0" smtClean="0"/>
              <a:t>Software Requirements:</a:t>
            </a:r>
          </a:p>
          <a:p>
            <a:pPr marL="0" indent="0">
              <a:buNone/>
            </a:pPr>
            <a:r>
              <a:rPr lang="en-IN" dirty="0"/>
              <a:t> </a:t>
            </a:r>
            <a:r>
              <a:rPr lang="en-IN" dirty="0" smtClean="0"/>
              <a:t>         </a:t>
            </a:r>
            <a:r>
              <a:rPr lang="en-IN" dirty="0"/>
              <a:t>The software requirements include the programming environment, frameworks, and tools used to develop and run the application. </a:t>
            </a:r>
            <a:endParaRPr lang="en-IN" dirty="0" smtClean="0"/>
          </a:p>
          <a:p>
            <a:pPr marL="0" indent="0">
              <a:buNone/>
            </a:pPr>
            <a:r>
              <a:rPr lang="en-IN" dirty="0" smtClean="0"/>
              <a:t>Operating </a:t>
            </a:r>
            <a:r>
              <a:rPr lang="en-IN" dirty="0"/>
              <a:t>System: Windows / Linux / </a:t>
            </a:r>
            <a:r>
              <a:rPr lang="en-IN" dirty="0" err="1"/>
              <a:t>macOS</a:t>
            </a:r>
            <a:r>
              <a:rPr lang="en-IN" dirty="0"/>
              <a:t> </a:t>
            </a:r>
            <a:endParaRPr lang="en-IN" dirty="0" smtClean="0"/>
          </a:p>
          <a:p>
            <a:pPr marL="0" indent="0">
              <a:buNone/>
            </a:pPr>
            <a:r>
              <a:rPr lang="en-IN" dirty="0" smtClean="0"/>
              <a:t>Programming </a:t>
            </a:r>
            <a:r>
              <a:rPr lang="en-IN" dirty="0"/>
              <a:t>Language: </a:t>
            </a:r>
            <a:r>
              <a:rPr lang="en-IN" dirty="0" smtClean="0"/>
              <a:t>Python</a:t>
            </a:r>
          </a:p>
          <a:p>
            <a:pPr marL="0" indent="0">
              <a:buNone/>
            </a:pPr>
            <a:r>
              <a:rPr lang="en-IN" dirty="0" smtClean="0"/>
              <a:t> </a:t>
            </a:r>
            <a:r>
              <a:rPr lang="en-IN" dirty="0"/>
              <a:t>Framework: Flask (for web application) </a:t>
            </a:r>
            <a:endParaRPr lang="en-IN" dirty="0" smtClean="0"/>
          </a:p>
          <a:p>
            <a:pPr marL="0" indent="0">
              <a:buNone/>
            </a:pPr>
            <a:r>
              <a:rPr lang="en-IN" dirty="0" smtClean="0"/>
              <a:t>Libraries</a:t>
            </a:r>
            <a:r>
              <a:rPr lang="en-IN" dirty="0"/>
              <a:t>: Requests, PIL (Image Processing) </a:t>
            </a:r>
            <a:endParaRPr lang="en-IN" dirty="0" smtClean="0"/>
          </a:p>
          <a:p>
            <a:pPr marL="0" indent="0">
              <a:buNone/>
            </a:pPr>
            <a:r>
              <a:rPr lang="en-IN" dirty="0" smtClean="0"/>
              <a:t>API</a:t>
            </a:r>
            <a:r>
              <a:rPr lang="en-IN" dirty="0"/>
              <a:t>: Gemini API (for food recognition and calorie estimation) </a:t>
            </a:r>
            <a:r>
              <a:rPr lang="en-IN" dirty="0" err="1"/>
              <a:t>WebTechnologies</a:t>
            </a:r>
            <a:r>
              <a:rPr lang="en-IN" dirty="0"/>
              <a:t>: HTML, CSS (for frontend interface) </a:t>
            </a:r>
            <a:endParaRPr lang="en-IN" dirty="0" smtClean="0"/>
          </a:p>
          <a:p>
            <a:pPr marL="0" indent="0">
              <a:buNone/>
            </a:pPr>
            <a:r>
              <a:rPr lang="en-IN" dirty="0" smtClean="0"/>
              <a:t>Browser</a:t>
            </a:r>
            <a:r>
              <a:rPr lang="en-IN" dirty="0"/>
              <a:t>: Google Chrome / Edge </a:t>
            </a:r>
            <a:endParaRPr lang="en-IN" dirty="0" smtClean="0"/>
          </a:p>
          <a:p>
            <a:pPr marL="0" indent="0">
              <a:buNone/>
            </a:pPr>
            <a:r>
              <a:rPr lang="en-IN" dirty="0" smtClean="0"/>
              <a:t>Tools </a:t>
            </a:r>
            <a:r>
              <a:rPr lang="en-IN" dirty="0"/>
              <a:t>and Technologies Used </a:t>
            </a:r>
            <a:r>
              <a:rPr lang="en-IN" dirty="0" smtClean="0"/>
              <a:t>:</a:t>
            </a:r>
          </a:p>
          <a:p>
            <a:pPr marL="0" indent="0">
              <a:buNone/>
            </a:pPr>
            <a:r>
              <a:rPr lang="en-IN" dirty="0" smtClean="0"/>
              <a:t>The </a:t>
            </a:r>
            <a:r>
              <a:rPr lang="en-IN" dirty="0"/>
              <a:t>system utilizes modern tools and technologies to ensure efficient performance and ease of development</a:t>
            </a:r>
            <a:r>
              <a:rPr lang="en-IN" dirty="0" smtClean="0"/>
              <a:t>.</a:t>
            </a:r>
          </a:p>
          <a:p>
            <a:pPr marL="0" indent="0">
              <a:buNone/>
            </a:pPr>
            <a:r>
              <a:rPr lang="en-IN" dirty="0" smtClean="0"/>
              <a:t> </a:t>
            </a:r>
            <a:r>
              <a:rPr lang="en-IN" dirty="0"/>
              <a:t>Backend Development: Flask </a:t>
            </a:r>
            <a:endParaRPr lang="en-IN" dirty="0" smtClean="0"/>
          </a:p>
          <a:p>
            <a:pPr marL="0" indent="0">
              <a:buNone/>
            </a:pPr>
            <a:r>
              <a:rPr lang="en-IN" dirty="0" smtClean="0"/>
              <a:t>Frontend </a:t>
            </a:r>
            <a:r>
              <a:rPr lang="en-IN" dirty="0"/>
              <a:t>Development: HTML, CSS </a:t>
            </a:r>
            <a:endParaRPr lang="en-IN" dirty="0" smtClean="0"/>
          </a:p>
          <a:p>
            <a:pPr marL="0" indent="0">
              <a:buNone/>
            </a:pPr>
            <a:r>
              <a:rPr lang="en-IN" dirty="0" smtClean="0"/>
              <a:t>AI </a:t>
            </a:r>
            <a:r>
              <a:rPr lang="en-IN" dirty="0"/>
              <a:t>Service: Gemini API </a:t>
            </a:r>
            <a:endParaRPr lang="en-IN" dirty="0" smtClean="0"/>
          </a:p>
          <a:p>
            <a:pPr marL="0" indent="0">
              <a:buNone/>
            </a:pPr>
            <a:r>
              <a:rPr lang="en-IN" dirty="0" smtClean="0"/>
              <a:t>Image </a:t>
            </a:r>
            <a:r>
              <a:rPr lang="en-IN" dirty="0"/>
              <a:t>Handling: PIL / </a:t>
            </a:r>
            <a:r>
              <a:rPr lang="en-IN" dirty="0" err="1"/>
              <a:t>OpenCV</a:t>
            </a:r>
            <a:r>
              <a:rPr lang="en-IN" dirty="0"/>
              <a:t> </a:t>
            </a:r>
            <a:r>
              <a:rPr lang="en-IN" dirty="0" smtClean="0"/>
              <a:t>API</a:t>
            </a:r>
          </a:p>
          <a:p>
            <a:pPr marL="0" indent="0">
              <a:buNone/>
            </a:pPr>
            <a:r>
              <a:rPr lang="en-IN" dirty="0" smtClean="0"/>
              <a:t> </a:t>
            </a:r>
            <a:r>
              <a:rPr lang="en-IN" dirty="0"/>
              <a:t>Communication: HTTP Request</a:t>
            </a:r>
          </a:p>
        </p:txBody>
      </p:sp>
    </p:spTree>
    <p:extLst>
      <p:ext uri="{BB962C8B-B14F-4D97-AF65-F5344CB8AC3E}">
        <p14:creationId xmlns:p14="http://schemas.microsoft.com/office/powerpoint/2010/main" val="392654556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4944" y="1476536"/>
            <a:ext cx="8217408" cy="5078313"/>
          </a:xfrm>
          <a:prstGeom prst="rect">
            <a:avLst/>
          </a:prstGeom>
        </p:spPr>
        <p:txBody>
          <a:bodyPr wrap="square">
            <a:spAutoFit/>
          </a:bodyPr>
          <a:lstStyle/>
          <a:p>
            <a:pPr algn="just"/>
            <a:r>
              <a:rPr lang="en-IN" b="1" dirty="0">
                <a:latin typeface="Times New Roman" panose="02020603050405020304" pitchFamily="18" charset="0"/>
                <a:cs typeface="Times New Roman" panose="02020603050405020304" pitchFamily="18" charset="0"/>
              </a:rPr>
              <a:t>Software Requirements:</a:t>
            </a:r>
          </a:p>
          <a:p>
            <a:pPr algn="just"/>
            <a:r>
              <a:rPr lang="en-IN" dirty="0">
                <a:latin typeface="Times New Roman" panose="02020603050405020304" pitchFamily="18" charset="0"/>
                <a:cs typeface="Times New Roman" panose="02020603050405020304" pitchFamily="18" charset="0"/>
              </a:rPr>
              <a:t>          The software requirements include the programming environment, frameworks, and tools used to develop and run the application. </a:t>
            </a:r>
          </a:p>
          <a:p>
            <a:pPr algn="just"/>
            <a:r>
              <a:rPr lang="en-IN" b="1" dirty="0">
                <a:latin typeface="Times New Roman" panose="02020603050405020304" pitchFamily="18" charset="0"/>
                <a:cs typeface="Times New Roman" panose="02020603050405020304" pitchFamily="18" charset="0"/>
              </a:rPr>
              <a:t>Operating System</a:t>
            </a:r>
            <a:r>
              <a:rPr lang="en-IN" dirty="0">
                <a:latin typeface="Times New Roman" panose="02020603050405020304" pitchFamily="18" charset="0"/>
                <a:cs typeface="Times New Roman" panose="02020603050405020304" pitchFamily="18" charset="0"/>
              </a:rPr>
              <a:t>: Windows / Linux / </a:t>
            </a:r>
            <a:r>
              <a:rPr lang="en-IN" dirty="0" err="1">
                <a:latin typeface="Times New Roman" panose="02020603050405020304" pitchFamily="18" charset="0"/>
                <a:cs typeface="Times New Roman" panose="02020603050405020304" pitchFamily="18" charset="0"/>
              </a:rPr>
              <a:t>macOS</a:t>
            </a:r>
            <a:r>
              <a:rPr lang="en-IN" dirty="0">
                <a:latin typeface="Times New Roman" panose="02020603050405020304" pitchFamily="18" charset="0"/>
                <a:cs typeface="Times New Roman" panose="02020603050405020304" pitchFamily="18" charset="0"/>
              </a:rPr>
              <a:t> </a:t>
            </a:r>
          </a:p>
          <a:p>
            <a:pPr algn="just"/>
            <a:r>
              <a:rPr lang="en-IN" b="1" dirty="0">
                <a:latin typeface="Times New Roman" panose="02020603050405020304" pitchFamily="18" charset="0"/>
                <a:cs typeface="Times New Roman" panose="02020603050405020304" pitchFamily="18" charset="0"/>
              </a:rPr>
              <a:t>Programming Language</a:t>
            </a:r>
            <a:r>
              <a:rPr lang="en-IN" dirty="0">
                <a:latin typeface="Times New Roman" panose="02020603050405020304" pitchFamily="18" charset="0"/>
                <a:cs typeface="Times New Roman" panose="02020603050405020304" pitchFamily="18" charset="0"/>
              </a:rPr>
              <a:t>: Python</a:t>
            </a:r>
          </a:p>
          <a:p>
            <a:pPr algn="just"/>
            <a:r>
              <a:rPr lang="en-IN" b="1" dirty="0">
                <a:latin typeface="Times New Roman" panose="02020603050405020304" pitchFamily="18" charset="0"/>
                <a:cs typeface="Times New Roman" panose="02020603050405020304" pitchFamily="18" charset="0"/>
              </a:rPr>
              <a:t> Framework</a:t>
            </a:r>
            <a:r>
              <a:rPr lang="en-IN" dirty="0">
                <a:latin typeface="Times New Roman" panose="02020603050405020304" pitchFamily="18" charset="0"/>
                <a:cs typeface="Times New Roman" panose="02020603050405020304" pitchFamily="18" charset="0"/>
              </a:rPr>
              <a:t>: Flask (for web application) </a:t>
            </a:r>
          </a:p>
          <a:p>
            <a:pPr algn="just"/>
            <a:r>
              <a:rPr lang="en-IN" b="1" dirty="0">
                <a:latin typeface="Times New Roman" panose="02020603050405020304" pitchFamily="18" charset="0"/>
                <a:cs typeface="Times New Roman" panose="02020603050405020304" pitchFamily="18" charset="0"/>
              </a:rPr>
              <a:t>Libraries: </a:t>
            </a:r>
            <a:r>
              <a:rPr lang="en-IN" dirty="0">
                <a:latin typeface="Times New Roman" panose="02020603050405020304" pitchFamily="18" charset="0"/>
                <a:cs typeface="Times New Roman" panose="02020603050405020304" pitchFamily="18" charset="0"/>
              </a:rPr>
              <a:t>Requests, PIL (Image Processing) </a:t>
            </a:r>
          </a:p>
          <a:p>
            <a:pPr algn="just"/>
            <a:r>
              <a:rPr lang="en-IN" b="1" dirty="0">
                <a:latin typeface="Times New Roman" panose="02020603050405020304" pitchFamily="18" charset="0"/>
                <a:cs typeface="Times New Roman" panose="02020603050405020304" pitchFamily="18" charset="0"/>
              </a:rPr>
              <a:t>API: </a:t>
            </a:r>
            <a:r>
              <a:rPr lang="en-IN" dirty="0">
                <a:latin typeface="Times New Roman" panose="02020603050405020304" pitchFamily="18" charset="0"/>
                <a:cs typeface="Times New Roman" panose="02020603050405020304" pitchFamily="18" charset="0"/>
              </a:rPr>
              <a:t>Gemini API (for food recognition and calorie estimation) </a:t>
            </a:r>
            <a:endParaRPr lang="en-IN" dirty="0" smtClean="0">
              <a:latin typeface="Times New Roman" panose="02020603050405020304" pitchFamily="18" charset="0"/>
              <a:cs typeface="Times New Roman" panose="02020603050405020304" pitchFamily="18" charset="0"/>
            </a:endParaRPr>
          </a:p>
          <a:p>
            <a:pPr algn="just"/>
            <a:r>
              <a:rPr lang="en-IN" b="1" dirty="0" err="1" smtClean="0">
                <a:latin typeface="Times New Roman" panose="02020603050405020304" pitchFamily="18" charset="0"/>
                <a:cs typeface="Times New Roman" panose="02020603050405020304" pitchFamily="18" charset="0"/>
              </a:rPr>
              <a:t>WebTechnologies</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HTML, CSS (for frontend interface) </a:t>
            </a:r>
          </a:p>
          <a:p>
            <a:pPr algn="just"/>
            <a:r>
              <a:rPr lang="en-IN" b="1" dirty="0">
                <a:latin typeface="Times New Roman" panose="02020603050405020304" pitchFamily="18" charset="0"/>
                <a:cs typeface="Times New Roman" panose="02020603050405020304" pitchFamily="18" charset="0"/>
              </a:rPr>
              <a:t>Browser</a:t>
            </a:r>
            <a:r>
              <a:rPr lang="en-IN" dirty="0">
                <a:latin typeface="Times New Roman" panose="02020603050405020304" pitchFamily="18" charset="0"/>
                <a:cs typeface="Times New Roman" panose="02020603050405020304" pitchFamily="18" charset="0"/>
              </a:rPr>
              <a:t>: Google Chrome / Edge </a:t>
            </a:r>
          </a:p>
          <a:p>
            <a:pPr algn="just"/>
            <a:r>
              <a:rPr lang="en-IN" b="1" dirty="0">
                <a:latin typeface="Times New Roman" panose="02020603050405020304" pitchFamily="18" charset="0"/>
                <a:cs typeface="Times New Roman" panose="02020603050405020304" pitchFamily="18" charset="0"/>
              </a:rPr>
              <a:t>Tools and Technologies Used :</a:t>
            </a:r>
          </a:p>
          <a:p>
            <a:pPr algn="just"/>
            <a:r>
              <a:rPr lang="en-IN" dirty="0">
                <a:latin typeface="Times New Roman" panose="02020603050405020304" pitchFamily="18" charset="0"/>
                <a:cs typeface="Times New Roman" panose="02020603050405020304" pitchFamily="18" charset="0"/>
              </a:rPr>
              <a:t>The system utilizes modern tools and technologies to ensure efficient performance and ease of development.</a:t>
            </a:r>
          </a:p>
          <a:p>
            <a:pPr algn="just"/>
            <a:r>
              <a:rPr lang="en-IN" b="1" dirty="0">
                <a:latin typeface="Times New Roman" panose="02020603050405020304" pitchFamily="18" charset="0"/>
                <a:cs typeface="Times New Roman" panose="02020603050405020304" pitchFamily="18" charset="0"/>
              </a:rPr>
              <a:t> Backend Development:</a:t>
            </a:r>
            <a:r>
              <a:rPr lang="en-IN" dirty="0">
                <a:latin typeface="Times New Roman" panose="02020603050405020304" pitchFamily="18" charset="0"/>
                <a:cs typeface="Times New Roman" panose="02020603050405020304" pitchFamily="18" charset="0"/>
              </a:rPr>
              <a:t> Flask </a:t>
            </a:r>
          </a:p>
          <a:p>
            <a:pPr algn="just"/>
            <a:r>
              <a:rPr lang="en-IN" b="1" dirty="0">
                <a:latin typeface="Times New Roman" panose="02020603050405020304" pitchFamily="18" charset="0"/>
                <a:cs typeface="Times New Roman" panose="02020603050405020304" pitchFamily="18" charset="0"/>
              </a:rPr>
              <a:t>Frontend Development: </a:t>
            </a:r>
            <a:r>
              <a:rPr lang="en-IN" dirty="0">
                <a:latin typeface="Times New Roman" panose="02020603050405020304" pitchFamily="18" charset="0"/>
                <a:cs typeface="Times New Roman" panose="02020603050405020304" pitchFamily="18" charset="0"/>
              </a:rPr>
              <a:t>HTML, CSS </a:t>
            </a:r>
          </a:p>
          <a:p>
            <a:pPr algn="just"/>
            <a:r>
              <a:rPr lang="en-IN" b="1" dirty="0">
                <a:latin typeface="Times New Roman" panose="02020603050405020304" pitchFamily="18" charset="0"/>
                <a:cs typeface="Times New Roman" panose="02020603050405020304" pitchFamily="18" charset="0"/>
              </a:rPr>
              <a:t>AI Service: </a:t>
            </a:r>
            <a:r>
              <a:rPr lang="en-IN" dirty="0">
                <a:latin typeface="Times New Roman" panose="02020603050405020304" pitchFamily="18" charset="0"/>
                <a:cs typeface="Times New Roman" panose="02020603050405020304" pitchFamily="18" charset="0"/>
              </a:rPr>
              <a:t>Gemini API </a:t>
            </a:r>
          </a:p>
          <a:p>
            <a:pPr algn="just"/>
            <a:r>
              <a:rPr lang="en-IN" b="1" dirty="0">
                <a:latin typeface="Times New Roman" panose="02020603050405020304" pitchFamily="18" charset="0"/>
                <a:cs typeface="Times New Roman" panose="02020603050405020304" pitchFamily="18" charset="0"/>
              </a:rPr>
              <a:t>Image Handling: </a:t>
            </a:r>
            <a:r>
              <a:rPr lang="en-IN" dirty="0">
                <a:latin typeface="Times New Roman" panose="02020603050405020304" pitchFamily="18" charset="0"/>
                <a:cs typeface="Times New Roman" panose="02020603050405020304" pitchFamily="18" charset="0"/>
              </a:rPr>
              <a:t>PIL / </a:t>
            </a:r>
            <a:r>
              <a:rPr lang="en-IN" dirty="0" err="1">
                <a:latin typeface="Times New Roman" panose="02020603050405020304" pitchFamily="18" charset="0"/>
                <a:cs typeface="Times New Roman" panose="02020603050405020304" pitchFamily="18" charset="0"/>
              </a:rPr>
              <a:t>OpenCV</a:t>
            </a:r>
            <a:r>
              <a:rPr lang="en-IN" dirty="0">
                <a:latin typeface="Times New Roman" panose="02020603050405020304" pitchFamily="18" charset="0"/>
                <a:cs typeface="Times New Roman" panose="02020603050405020304" pitchFamily="18" charset="0"/>
              </a:rPr>
              <a:t> API</a:t>
            </a:r>
          </a:p>
          <a:p>
            <a:pPr algn="just"/>
            <a:r>
              <a:rPr lang="en-IN" b="1" dirty="0">
                <a:latin typeface="Times New Roman" panose="02020603050405020304" pitchFamily="18" charset="0"/>
                <a:cs typeface="Times New Roman" panose="02020603050405020304" pitchFamily="18" charset="0"/>
              </a:rPr>
              <a:t> Communication: </a:t>
            </a:r>
            <a:r>
              <a:rPr lang="en-IN" dirty="0">
                <a:latin typeface="Times New Roman" panose="02020603050405020304" pitchFamily="18" charset="0"/>
                <a:cs typeface="Times New Roman" panose="02020603050405020304" pitchFamily="18" charset="0"/>
              </a:rPr>
              <a:t>HTTP Request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447123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400" b="1" dirty="0" smtClean="0">
                <a:solidFill>
                  <a:srgbClr val="FF0000"/>
                </a:solidFill>
                <a:latin typeface="Times New Roman" panose="02020603050405020304" pitchFamily="18" charset="0"/>
                <a:cs typeface="Times New Roman" panose="02020603050405020304" pitchFamily="18" charset="0"/>
              </a:rPr>
              <a:t> </a:t>
            </a:r>
            <a:r>
              <a:rPr lang="en-IN" sz="4400" b="1" dirty="0" smtClean="0">
                <a:solidFill>
                  <a:srgbClr val="FF0000"/>
                </a:solidFill>
                <a:latin typeface="Times New Roman" panose="02020603050405020304" pitchFamily="18" charset="0"/>
                <a:cs typeface="Times New Roman" panose="02020603050405020304" pitchFamily="18" charset="0"/>
              </a:rPr>
              <a:t>Implementation</a:t>
            </a:r>
            <a:endParaRPr sz="4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r>
              <a:rPr lang="en-US" dirty="0">
                <a:latin typeface="Times New Roman" panose="02020603050405020304" pitchFamily="18" charset="0"/>
                <a:cs typeface="Times New Roman" panose="02020603050405020304" pitchFamily="18" charset="0"/>
              </a:rPr>
              <a:t>Algorithm: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Food </a:t>
            </a:r>
            <a:r>
              <a:rPr lang="en-US" dirty="0">
                <a:latin typeface="Times New Roman" panose="02020603050405020304" pitchFamily="18" charset="0"/>
                <a:cs typeface="Times New Roman" panose="02020603050405020304" pitchFamily="18" charset="0"/>
              </a:rPr>
              <a:t>Calorie Estimation using Gemini </a:t>
            </a:r>
            <a:r>
              <a:rPr lang="en-US" dirty="0" smtClean="0">
                <a:latin typeface="Times New Roman" panose="02020603050405020304" pitchFamily="18" charset="0"/>
                <a:cs typeface="Times New Roman" panose="02020603050405020304" pitchFamily="18" charset="0"/>
              </a:rPr>
              <a:t>API</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Step 1: Start the </a:t>
            </a:r>
            <a:r>
              <a:rPr lang="en-US" dirty="0" smtClean="0">
                <a:latin typeface="Times New Roman" panose="02020603050405020304" pitchFamily="18" charset="0"/>
                <a:cs typeface="Times New Roman" panose="02020603050405020304" pitchFamily="18" charset="0"/>
              </a:rPr>
              <a:t>process</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Step 2: Accept food image input from the </a:t>
            </a:r>
            <a:r>
              <a:rPr lang="en-US" dirty="0" smtClean="0">
                <a:latin typeface="Times New Roman" panose="02020603050405020304" pitchFamily="18" charset="0"/>
                <a:cs typeface="Times New Roman" panose="02020603050405020304" pitchFamily="18" charset="0"/>
              </a:rPr>
              <a:t>user</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Step 3: Perform image preprocessing (resize, format conversion)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Step </a:t>
            </a:r>
            <a:r>
              <a:rPr lang="en-US" dirty="0">
                <a:latin typeface="Times New Roman" panose="02020603050405020304" pitchFamily="18" charset="0"/>
                <a:cs typeface="Times New Roman" panose="02020603050405020304" pitchFamily="18" charset="0"/>
              </a:rPr>
              <a:t>4: Send the preprocessed image to the Gemini API Step 5: Gemini API analyzes the image and identifies the food </a:t>
            </a:r>
            <a:r>
              <a:rPr lang="en-US" dirty="0" smtClean="0">
                <a:latin typeface="Times New Roman" panose="02020603050405020304" pitchFamily="18" charset="0"/>
                <a:cs typeface="Times New Roman" panose="02020603050405020304" pitchFamily="18" charset="0"/>
              </a:rPr>
              <a:t>item</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Step 6: Extract calorie-related information from the API response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Step </a:t>
            </a:r>
            <a:r>
              <a:rPr lang="en-US" dirty="0">
                <a:latin typeface="Times New Roman" panose="02020603050405020304" pitchFamily="18" charset="0"/>
                <a:cs typeface="Times New Roman" panose="02020603050405020304" pitchFamily="18" charset="0"/>
              </a:rPr>
              <a:t>7: Process and format the output data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Step </a:t>
            </a:r>
            <a:r>
              <a:rPr lang="en-US" dirty="0">
                <a:latin typeface="Times New Roman" panose="02020603050405020304" pitchFamily="18" charset="0"/>
                <a:cs typeface="Times New Roman" panose="02020603050405020304" pitchFamily="18" charset="0"/>
              </a:rPr>
              <a:t>8: Display the food name and estimated calorie value to the user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Step </a:t>
            </a:r>
            <a:r>
              <a:rPr lang="en-US" dirty="0">
                <a:latin typeface="Times New Roman" panose="02020603050405020304" pitchFamily="18" charset="0"/>
                <a:cs typeface="Times New Roman" panose="02020603050405020304" pitchFamily="18" charset="0"/>
              </a:rPr>
              <a:t>9: Stop the process</a:t>
            </a:r>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latin typeface="Times New Roman" panose="02020603050405020304" pitchFamily="18" charset="0"/>
                <a:cs typeface="Times New Roman" panose="02020603050405020304" pitchFamily="18" charset="0"/>
              </a:rPr>
              <a:t>                     Result</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7875" y="1511807"/>
            <a:ext cx="6486525" cy="5110353"/>
          </a:xfrm>
          <a:prstGeom prst="rect">
            <a:avLst/>
          </a:prstGeom>
        </p:spPr>
      </p:pic>
    </p:spTree>
    <p:extLst>
      <p:ext uri="{BB962C8B-B14F-4D97-AF65-F5344CB8AC3E}">
        <p14:creationId xmlns:p14="http://schemas.microsoft.com/office/powerpoint/2010/main" val="3679221654"/>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1360" y="1455801"/>
            <a:ext cx="6124575" cy="4019550"/>
          </a:xfrm>
          <a:prstGeom prst="rect">
            <a:avLst/>
          </a:prstGeom>
        </p:spPr>
      </p:pic>
    </p:spTree>
    <p:extLst>
      <p:ext uri="{BB962C8B-B14F-4D97-AF65-F5344CB8AC3E}">
        <p14:creationId xmlns:p14="http://schemas.microsoft.com/office/powerpoint/2010/main" val="41059615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672" y="1203960"/>
            <a:ext cx="6124575" cy="4572000"/>
          </a:xfrm>
          <a:prstGeom prst="rect">
            <a:avLst/>
          </a:prstGeom>
        </p:spPr>
      </p:pic>
    </p:spTree>
    <p:extLst>
      <p:ext uri="{BB962C8B-B14F-4D97-AF65-F5344CB8AC3E}">
        <p14:creationId xmlns:p14="http://schemas.microsoft.com/office/powerpoint/2010/main" val="417508974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6432" y="190690"/>
            <a:ext cx="6124575" cy="364807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6431" y="3901154"/>
            <a:ext cx="6124575" cy="2608516"/>
          </a:xfrm>
          <a:prstGeom prst="rect">
            <a:avLst/>
          </a:prstGeom>
        </p:spPr>
      </p:pic>
    </p:spTree>
    <p:extLst>
      <p:ext uri="{BB962C8B-B14F-4D97-AF65-F5344CB8AC3E}">
        <p14:creationId xmlns:p14="http://schemas.microsoft.com/office/powerpoint/2010/main" val="26678378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0576" y="0"/>
            <a:ext cx="6376415" cy="6858000"/>
          </a:xfrm>
          <a:prstGeom prst="rect">
            <a:avLst/>
          </a:prstGeom>
        </p:spPr>
      </p:pic>
    </p:spTree>
    <p:extLst>
      <p:ext uri="{BB962C8B-B14F-4D97-AF65-F5344CB8AC3E}">
        <p14:creationId xmlns:p14="http://schemas.microsoft.com/office/powerpoint/2010/main" val="301621451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7771" y="113919"/>
            <a:ext cx="6115050" cy="375285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5846" y="4010025"/>
            <a:ext cx="6438900" cy="2847975"/>
          </a:xfrm>
          <a:prstGeom prst="rect">
            <a:avLst/>
          </a:prstGeom>
        </p:spPr>
      </p:pic>
    </p:spTree>
    <p:extLst>
      <p:ext uri="{BB962C8B-B14F-4D97-AF65-F5344CB8AC3E}">
        <p14:creationId xmlns:p14="http://schemas.microsoft.com/office/powerpoint/2010/main" val="288830282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1724" y="3569970"/>
            <a:ext cx="6477000" cy="30099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1724" y="397764"/>
            <a:ext cx="6124575" cy="2819400"/>
          </a:xfrm>
          <a:prstGeom prst="rect">
            <a:avLst/>
          </a:prstGeom>
        </p:spPr>
      </p:pic>
    </p:spTree>
    <p:extLst>
      <p:ext uri="{BB962C8B-B14F-4D97-AF65-F5344CB8AC3E}">
        <p14:creationId xmlns:p14="http://schemas.microsoft.com/office/powerpoint/2010/main" val="73284775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9712" y="180975"/>
            <a:ext cx="6124575" cy="6496050"/>
          </a:xfrm>
          <a:prstGeom prst="rect">
            <a:avLst/>
          </a:prstGeom>
        </p:spPr>
      </p:pic>
    </p:spTree>
    <p:extLst>
      <p:ext uri="{BB962C8B-B14F-4D97-AF65-F5344CB8AC3E}">
        <p14:creationId xmlns:p14="http://schemas.microsoft.com/office/powerpoint/2010/main" val="504834546"/>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9+ Hundred Any Suggestion Royalty-Free Images, Stock Photos &amp; Pictures |  Shutter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635" y="1387475"/>
            <a:ext cx="676275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28269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Thank You Images - Free Download on Freepik">
            <a:extLst>
              <a:ext uri="{FF2B5EF4-FFF2-40B4-BE49-F238E27FC236}">
                <a16:creationId xmlns:a16="http://schemas.microsoft.com/office/drawing/2014/main" id="{805F72DB-BB68-B4C8-D55F-B52338F3126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04103" y="1456532"/>
            <a:ext cx="5120111" cy="3626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791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1232</TotalTime>
  <Words>1128</Words>
  <Application>Microsoft Office PowerPoint</Application>
  <PresentationFormat>On-screen Show (4:3)</PresentationFormat>
  <Paragraphs>105</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Century Gothic</vt:lpstr>
      <vt:lpstr>Old English Text MT</vt:lpstr>
      <vt:lpstr>Times New Roman</vt:lpstr>
      <vt:lpstr>Wingdings</vt:lpstr>
      <vt:lpstr>Wingdings 3</vt:lpstr>
      <vt:lpstr>Wisp</vt:lpstr>
      <vt:lpstr>Bapatla Engineering College Department of Information Technology</vt:lpstr>
      <vt:lpstr>Contents</vt:lpstr>
      <vt:lpstr>                  Abstract:</vt:lpstr>
      <vt:lpstr>            Problem Statement </vt:lpstr>
      <vt:lpstr>             Literature Review</vt:lpstr>
      <vt:lpstr>Domain Knowledge</vt:lpstr>
      <vt:lpstr>System Architecture:</vt:lpstr>
      <vt:lpstr>           System Architecture</vt:lpstr>
      <vt:lpstr>Methodology</vt:lpstr>
      <vt:lpstr>Methodology</vt:lpstr>
      <vt:lpstr>        System Requirements </vt:lpstr>
      <vt:lpstr>PowerPoint Presentation</vt:lpstr>
      <vt:lpstr>PowerPoint Presentation</vt:lpstr>
      <vt:lpstr> Implementation</vt:lpstr>
      <vt:lpstr>                     Result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Bapatla Engineering College Department of Information technology</dc:title>
  <dc:creator>Jyothsna kasa</dc:creator>
  <dc:description>generated using python-pptx</dc:description>
  <cp:lastModifiedBy>Hima Bindu</cp:lastModifiedBy>
  <cp:revision>66</cp:revision>
  <dcterms:created xsi:type="dcterms:W3CDTF">2013-01-27T09:14:16Z</dcterms:created>
  <dcterms:modified xsi:type="dcterms:W3CDTF">2026-04-07T01:38:09Z</dcterms:modified>
</cp:coreProperties>
</file>